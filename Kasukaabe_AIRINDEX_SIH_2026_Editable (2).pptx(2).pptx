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ptos Bold" panose="020B0604020202020204" charset="0"/>
      <p:regular r:id="rId9"/>
    </p:embeddedFont>
    <p:embeddedFont>
      <p:font typeface="Arial Bold" panose="020B0704020202020204" pitchFamily="34" charset="0"/>
      <p:regular r:id="rId10"/>
      <p:bold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Garamond Bold" panose="02020804030307010803" pitchFamily="18" charset="0"/>
      <p:regular r:id="rId15"/>
      <p:bold r:id="rId16"/>
    </p:embeddedFont>
    <p:embeddedFont>
      <p:font typeface="Georgia Bold" panose="02040802050405020203" pitchFamily="18" charset="0"/>
      <p:regular r:id="rId17"/>
      <p:bold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AF0F96-1F24-458E-9382-EA6D3F8900D3}" v="1" dt="2026-09-06T06:27:53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ng Raj" userId="667970f2cb33489d" providerId="LiveId" clId="{63B99086-EEF6-45AE-8F19-BF7BEA89721C}"/>
    <pc:docChg chg="modSld">
      <pc:chgData name="Umang Raj" userId="667970f2cb33489d" providerId="LiveId" clId="{63B99086-EEF6-45AE-8F19-BF7BEA89721C}" dt="2026-09-06T06:27:53.215" v="0" actId="767"/>
      <pc:docMkLst>
        <pc:docMk/>
      </pc:docMkLst>
      <pc:sldChg chg="addSp modSp modNotes">
        <pc:chgData name="Umang Raj" userId="667970f2cb33489d" providerId="LiveId" clId="{63B99086-EEF6-45AE-8F19-BF7BEA89721C}" dt="2026-09-06T06:27:53.215" v="0" actId="767"/>
        <pc:sldMkLst>
          <pc:docMk/>
          <pc:sldMk cId="0" sldId="257"/>
        </pc:sldMkLst>
        <pc:spChg chg="add mod">
          <ac:chgData name="Umang Raj" userId="667970f2cb33489d" providerId="LiveId" clId="{63B99086-EEF6-45AE-8F19-BF7BEA89721C}" dt="2026-09-06T06:27:53.215" v="0" actId="767"/>
          <ac:spMkLst>
            <pc:docMk/>
            <pc:sldMk cId="0" sldId="257"/>
            <ac:spMk id="126" creationId="{EE35E1EA-5749-2591-AE7A-F1617C92BD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14.png"/><Relationship Id="rId12" Type="http://schemas.openxmlformats.org/officeDocument/2006/relationships/hyperlink" Target="https://www.youtube.com/watch?v=1227R6KY8Ts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68052" y="1524000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2961" cy="7734301"/>
            </a:xfrm>
            <a:custGeom>
              <a:avLst/>
              <a:gdLst/>
              <a:ahLst/>
              <a:cxnLst/>
              <a:rect l="l" t="t" r="r" b="b"/>
              <a:pathLst>
                <a:path w="6952961" h="773430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7" y="4688967"/>
                  </a:cubicBezTo>
                  <a:cubicBezTo>
                    <a:pt x="1047685" y="4688967"/>
                    <a:pt x="1084007" y="4716653"/>
                    <a:pt x="1102169" y="4761611"/>
                  </a:cubicBezTo>
                  <a:cubicBezTo>
                    <a:pt x="1102169" y="4761611"/>
                    <a:pt x="1102169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9" y="6288913"/>
                  </a:cubicBezTo>
                  <a:cubicBezTo>
                    <a:pt x="1084007" y="6333744"/>
                    <a:pt x="1047685" y="6361557"/>
                    <a:pt x="1009967" y="6361557"/>
                  </a:cubicBezTo>
                  <a:cubicBezTo>
                    <a:pt x="1009967" y="6361557"/>
                    <a:pt x="1009967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5" y="855218"/>
                  </a:moveTo>
                  <a:cubicBezTo>
                    <a:pt x="2799015" y="855218"/>
                    <a:pt x="2799015" y="855218"/>
                    <a:pt x="3108387" y="855218"/>
                  </a:cubicBezTo>
                  <a:lnTo>
                    <a:pt x="3144455" y="855218"/>
                  </a:lnTo>
                  <a:lnTo>
                    <a:pt x="3178872" y="934339"/>
                  </a:lnTo>
                  <a:cubicBezTo>
                    <a:pt x="3226878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3" y="2599817"/>
                  </a:cubicBezTo>
                  <a:cubicBezTo>
                    <a:pt x="2857943" y="2668651"/>
                    <a:pt x="2802317" y="2710942"/>
                    <a:pt x="2744659" y="2710942"/>
                  </a:cubicBezTo>
                  <a:cubicBezTo>
                    <a:pt x="2744659" y="2710942"/>
                    <a:pt x="2744659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2" y="855091"/>
                  </a:cubicBezTo>
                  <a:lnTo>
                    <a:pt x="2799015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90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6" y="839851"/>
                  </a:lnTo>
                  <a:lnTo>
                    <a:pt x="3084892" y="722630"/>
                  </a:lnTo>
                  <a:cubicBezTo>
                    <a:pt x="2890201" y="275082"/>
                    <a:pt x="2890201" y="275082"/>
                    <a:pt x="2890201" y="275082"/>
                  </a:cubicBezTo>
                  <a:cubicBezTo>
                    <a:pt x="2862261" y="206248"/>
                    <a:pt x="2806635" y="163957"/>
                    <a:pt x="2748977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9" y="1402207"/>
                    <a:pt x="1194879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1" y="2875026"/>
                    <a:pt x="2931349" y="2827274"/>
                    <a:pt x="2962845" y="2749677"/>
                  </a:cubicBezTo>
                  <a:cubicBezTo>
                    <a:pt x="3483545" y="1552956"/>
                    <a:pt x="3483545" y="1552956"/>
                    <a:pt x="3483545" y="1552956"/>
                  </a:cubicBezTo>
                  <a:cubicBezTo>
                    <a:pt x="3517199" y="1478407"/>
                    <a:pt x="3517199" y="1382776"/>
                    <a:pt x="3483545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7" y="855472"/>
                  </a:lnTo>
                  <a:cubicBezTo>
                    <a:pt x="3765484" y="855472"/>
                    <a:pt x="4345493" y="855472"/>
                    <a:pt x="5273355" y="855472"/>
                  </a:cubicBezTo>
                  <a:cubicBezTo>
                    <a:pt x="5428295" y="855472"/>
                    <a:pt x="5578028" y="969137"/>
                    <a:pt x="5652831" y="1153922"/>
                  </a:cubicBezTo>
                  <a:cubicBezTo>
                    <a:pt x="5652831" y="1153922"/>
                    <a:pt x="5652831" y="1153922"/>
                    <a:pt x="6892858" y="4003548"/>
                  </a:cubicBezTo>
                  <a:cubicBezTo>
                    <a:pt x="6972995" y="4181222"/>
                    <a:pt x="6972995" y="4408678"/>
                    <a:pt x="6892858" y="4586224"/>
                  </a:cubicBezTo>
                  <a:cubicBezTo>
                    <a:pt x="6892858" y="4586224"/>
                    <a:pt x="6892858" y="4586224"/>
                    <a:pt x="5652831" y="7435851"/>
                  </a:cubicBezTo>
                  <a:cubicBezTo>
                    <a:pt x="5578028" y="7620636"/>
                    <a:pt x="5428422" y="7734301"/>
                    <a:pt x="5273355" y="7734301"/>
                  </a:cubicBezTo>
                  <a:cubicBezTo>
                    <a:pt x="5273355" y="7734301"/>
                    <a:pt x="5273355" y="7734301"/>
                    <a:pt x="2798761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1" y="4408551"/>
                    <a:pt x="1099121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80" y="1567053"/>
                  </a:cubicBezTo>
                  <a:cubicBezTo>
                    <a:pt x="1054924" y="1492504"/>
                    <a:pt x="1054924" y="1396873"/>
                    <a:pt x="1088580" y="1322324"/>
                  </a:cubicBezTo>
                  <a:cubicBezTo>
                    <a:pt x="1088580" y="1322324"/>
                    <a:pt x="1088580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16702" y="3441811"/>
            <a:ext cx="4805267" cy="5138309"/>
            <a:chOff x="0" y="0"/>
            <a:chExt cx="6407023" cy="68510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495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62045" y="9449"/>
            <a:ext cx="3313652" cy="1684306"/>
            <a:chOff x="0" y="0"/>
            <a:chExt cx="4418203" cy="2245741"/>
          </a:xfrm>
        </p:grpSpPr>
        <p:sp>
          <p:nvSpPr>
            <p:cNvPr id="7" name="Freeform 7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14545" y="1684172"/>
            <a:ext cx="3783578" cy="84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16791" y="262528"/>
            <a:ext cx="1210496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1398" y="2930216"/>
            <a:ext cx="10931188" cy="557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823" lvl="1" indent="-285912" algn="l">
              <a:lnSpc>
                <a:spcPts val="6345"/>
              </a:lnSpc>
              <a:buFont typeface="Arial"/>
              <a:buChar char="•"/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26056</a:t>
            </a:r>
          </a:p>
          <a:p>
            <a:pPr marL="571823" lvl="1" indent="-285912" algn="l">
              <a:lnSpc>
                <a:spcPts val="3363"/>
              </a:lnSpc>
              <a:buFont typeface="Arial"/>
              <a:buChar char="•"/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  Real-Time Airfare Price</a:t>
            </a:r>
          </a:p>
          <a:p>
            <a:pPr algn="l">
              <a:lnSpc>
                <a:spcPts val="3363"/>
              </a:lnSpc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         Index for India using </a:t>
            </a:r>
          </a:p>
          <a:p>
            <a:pPr algn="l">
              <a:lnSpc>
                <a:spcPts val="3363"/>
              </a:lnSpc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         Automated Web Scraping</a:t>
            </a:r>
          </a:p>
          <a:p>
            <a:pPr algn="l">
              <a:lnSpc>
                <a:spcPts val="3363"/>
              </a:lnSpc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                                to Augment CPI.                                     </a:t>
            </a:r>
          </a:p>
          <a:p>
            <a:pPr marL="571823" lvl="1" indent="-285912" algn="l">
              <a:lnSpc>
                <a:spcPts val="6345"/>
              </a:lnSpc>
              <a:buFont typeface="Arial"/>
              <a:buChar char="•"/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marL="571823" lvl="1" indent="-285912" algn="l">
              <a:lnSpc>
                <a:spcPts val="6345"/>
              </a:lnSpc>
              <a:buFont typeface="Arial"/>
              <a:buChar char="•"/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marL="571823" lvl="1" indent="-285912" algn="l">
              <a:lnSpc>
                <a:spcPts val="6345"/>
              </a:lnSpc>
              <a:buFont typeface="Arial"/>
              <a:buChar char="•"/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ID- 131</a:t>
            </a:r>
          </a:p>
          <a:p>
            <a:pPr marL="571823" lvl="1" indent="-285912" algn="l">
              <a:lnSpc>
                <a:spcPts val="6345"/>
              </a:lnSpc>
              <a:buFont typeface="Arial"/>
              <a:buChar char="•"/>
            </a:pPr>
            <a:r>
              <a:rPr lang="en-US" sz="2648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 kaasukabe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3353" y="219627"/>
            <a:ext cx="12148147" cy="713794"/>
            <a:chOff x="0" y="0"/>
            <a:chExt cx="16197529" cy="951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97534" cy="951720"/>
            </a:xfrm>
            <a:custGeom>
              <a:avLst/>
              <a:gdLst/>
              <a:ahLst/>
              <a:cxnLst/>
              <a:rect l="l" t="t" r="r" b="b"/>
              <a:pathLst>
                <a:path w="16197534" h="951720">
                  <a:moveTo>
                    <a:pt x="0" y="0"/>
                  </a:moveTo>
                  <a:lnTo>
                    <a:pt x="16197534" y="0"/>
                  </a:lnTo>
                  <a:lnTo>
                    <a:pt x="16197534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619" b="-2816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97529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4"/>
                </a:lnSpc>
              </a:pPr>
              <a:r>
                <a:rPr lang="en-US" sz="4503" b="1">
                  <a:solidFill>
                    <a:srgbClr val="0E2A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PROPOSED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019882" y="988324"/>
            <a:ext cx="10981382" cy="439255"/>
            <a:chOff x="0" y="0"/>
            <a:chExt cx="14641843" cy="5856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41840" cy="585674"/>
            </a:xfrm>
            <a:custGeom>
              <a:avLst/>
              <a:gdLst/>
              <a:ahLst/>
              <a:cxnLst/>
              <a:rect l="l" t="t" r="r" b="b"/>
              <a:pathLst>
                <a:path w="14641840" h="585674">
                  <a:moveTo>
                    <a:pt x="0" y="0"/>
                  </a:moveTo>
                  <a:lnTo>
                    <a:pt x="14641840" y="0"/>
                  </a:lnTo>
                  <a:lnTo>
                    <a:pt x="1464184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4641843" cy="585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2"/>
                </a:lnSpc>
              </a:pPr>
              <a:r>
                <a:rPr lang="en-US" sz="2176" b="1">
                  <a:solidFill>
                    <a:srgbClr val="11111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AIRINDEX(APIx) — Intelligent. Timely. Transparent.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8776" y="1746919"/>
            <a:ext cx="4935455" cy="604341"/>
            <a:chOff x="0" y="0"/>
            <a:chExt cx="4484065" cy="5490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84063" cy="549066"/>
            </a:xfrm>
            <a:custGeom>
              <a:avLst/>
              <a:gdLst/>
              <a:ahLst/>
              <a:cxnLst/>
              <a:rect l="l" t="t" r="r" b="b"/>
              <a:pathLst>
                <a:path w="4484063" h="549066">
                  <a:moveTo>
                    <a:pt x="0" y="0"/>
                  </a:moveTo>
                  <a:lnTo>
                    <a:pt x="4484063" y="0"/>
                  </a:lnTo>
                  <a:lnTo>
                    <a:pt x="4484063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128" b="-10912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4484065" cy="549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b="1">
                  <a:solidFill>
                    <a:srgbClr val="1F49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OUR PROPOSAL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9118" y="2081283"/>
            <a:ext cx="11215790" cy="2621533"/>
            <a:chOff x="0" y="0"/>
            <a:chExt cx="14954386" cy="349537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4687622" cy="888684"/>
              <a:chOff x="0" y="0"/>
              <a:chExt cx="14403908" cy="87151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03908" cy="871522"/>
              </a:xfrm>
              <a:custGeom>
                <a:avLst/>
                <a:gdLst/>
                <a:ahLst/>
                <a:cxnLst/>
                <a:rect l="l" t="t" r="r" b="b"/>
                <a:pathLst>
                  <a:path w="14403908" h="871522">
                    <a:moveTo>
                      <a:pt x="0" y="0"/>
                    </a:moveTo>
                    <a:lnTo>
                      <a:pt x="14403908" y="0"/>
                    </a:lnTo>
                    <a:lnTo>
                      <a:pt x="14403908" y="871522"/>
                    </a:lnTo>
                    <a:lnTo>
                      <a:pt x="0" y="8715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85284" b="-258785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14403908" cy="8715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509840" lvl="1" indent="-254920" algn="l">
                  <a:lnSpc>
                    <a:spcPts val="2833"/>
                  </a:lnSpc>
                  <a:buAutoNum type="arabicPeriod"/>
                </a:pPr>
                <a:r>
                  <a:rPr lang="en-US" sz="2361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Multisource webscraping engine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032" y="1239591"/>
              <a:ext cx="14687622" cy="2255786"/>
              <a:chOff x="0" y="0"/>
              <a:chExt cx="14403908" cy="221221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03908" cy="2212217"/>
              </a:xfrm>
              <a:custGeom>
                <a:avLst/>
                <a:gdLst/>
                <a:ahLst/>
                <a:cxnLst/>
                <a:rect l="l" t="t" r="r" b="b"/>
                <a:pathLst>
                  <a:path w="14403908" h="2212217">
                    <a:moveTo>
                      <a:pt x="0" y="0"/>
                    </a:moveTo>
                    <a:lnTo>
                      <a:pt x="14403908" y="0"/>
                    </a:lnTo>
                    <a:lnTo>
                      <a:pt x="14403908" y="2212217"/>
                    </a:lnTo>
                    <a:lnTo>
                      <a:pt x="0" y="221221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2390" b="-4134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14403908" cy="22122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509840" lvl="1" indent="-254920" algn="l">
                  <a:lnSpc>
                    <a:spcPts val="2833"/>
                  </a:lnSpc>
                  <a:buAutoNum type="arabicPeriod"/>
                </a:pPr>
                <a:r>
                  <a:rPr lang="en-US" sz="2361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Collects fare observations across 20 representative routes and T+1, T+7, T+15, T+30 and T+45 windows.</a:t>
                </a:r>
              </a:p>
              <a:p>
                <a:pPr algn="l">
                  <a:lnSpc>
                    <a:spcPts val="2833"/>
                  </a:lnSpc>
                </a:pPr>
                <a:endParaRPr lang="en-US" sz="2361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endParaRPr>
              </a:p>
              <a:p>
                <a:pPr algn="l">
                  <a:lnSpc>
                    <a:spcPts val="2833"/>
                  </a:lnSpc>
                </a:pPr>
                <a:endParaRPr lang="en-US" sz="2361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66764" y="2181902"/>
              <a:ext cx="14687622" cy="888684"/>
              <a:chOff x="0" y="0"/>
              <a:chExt cx="14403908" cy="87151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03908" cy="871522"/>
              </a:xfrm>
              <a:custGeom>
                <a:avLst/>
                <a:gdLst/>
                <a:ahLst/>
                <a:cxnLst/>
                <a:rect l="l" t="t" r="r" b="b"/>
                <a:pathLst>
                  <a:path w="14403908" h="871522">
                    <a:moveTo>
                      <a:pt x="0" y="0"/>
                    </a:moveTo>
                    <a:lnTo>
                      <a:pt x="14403908" y="0"/>
                    </a:lnTo>
                    <a:lnTo>
                      <a:pt x="14403908" y="871522"/>
                    </a:lnTo>
                    <a:lnTo>
                      <a:pt x="0" y="87152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57762" b="-95776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14403908" cy="8715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33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588931"/>
              <a:ext cx="14687622" cy="888684"/>
              <a:chOff x="0" y="0"/>
              <a:chExt cx="14403908" cy="87151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403908" cy="871522"/>
              </a:xfrm>
              <a:custGeom>
                <a:avLst/>
                <a:gdLst/>
                <a:ahLst/>
                <a:cxnLst/>
                <a:rect l="l" t="t" r="r" b="b"/>
                <a:pathLst>
                  <a:path w="14403908" h="871522">
                    <a:moveTo>
                      <a:pt x="0" y="0"/>
                    </a:moveTo>
                    <a:lnTo>
                      <a:pt x="14403908" y="0"/>
                    </a:lnTo>
                    <a:lnTo>
                      <a:pt x="14403908" y="871522"/>
                    </a:lnTo>
                    <a:lnTo>
                      <a:pt x="0" y="8715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85284" b="-25878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14403908" cy="8715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509840" lvl="1" indent="-254920" algn="l">
                  <a:lnSpc>
                    <a:spcPts val="2833"/>
                  </a:lnSpc>
                  <a:buAutoNum type="arabicPeriod"/>
                </a:pPr>
                <a:r>
                  <a:rPr lang="en-US" sz="2361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Scheduled daily extraction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2032" y="2216061"/>
              <a:ext cx="14687622" cy="888684"/>
              <a:chOff x="0" y="0"/>
              <a:chExt cx="14403908" cy="87151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4403908" cy="871522"/>
              </a:xfrm>
              <a:custGeom>
                <a:avLst/>
                <a:gdLst/>
                <a:ahLst/>
                <a:cxnLst/>
                <a:rect l="l" t="t" r="r" b="b"/>
                <a:pathLst>
                  <a:path w="14403908" h="871522">
                    <a:moveTo>
                      <a:pt x="0" y="0"/>
                    </a:moveTo>
                    <a:lnTo>
                      <a:pt x="14403908" y="0"/>
                    </a:lnTo>
                    <a:lnTo>
                      <a:pt x="14403908" y="871522"/>
                    </a:lnTo>
                    <a:lnTo>
                      <a:pt x="0" y="8715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85284" b="-25878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14403908" cy="8715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509840" lvl="1" indent="-254920" algn="l">
                  <a:lnSpc>
                    <a:spcPts val="2833"/>
                  </a:lnSpc>
                  <a:buAutoNum type="arabicPeriod"/>
                </a:pPr>
                <a:r>
                  <a:rPr lang="en-US" sz="2361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Turning flight prices into economic signal.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909084" y="4561607"/>
            <a:ext cx="2930725" cy="884723"/>
            <a:chOff x="0" y="0"/>
            <a:chExt cx="1869305" cy="5643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69306" cy="564300"/>
            </a:xfrm>
            <a:custGeom>
              <a:avLst/>
              <a:gdLst/>
              <a:ahLst/>
              <a:cxnLst/>
              <a:rect l="l" t="t" r="r" b="b"/>
              <a:pathLst>
                <a:path w="1869306" h="564300">
                  <a:moveTo>
                    <a:pt x="0" y="0"/>
                  </a:moveTo>
                  <a:lnTo>
                    <a:pt x="1869306" y="0"/>
                  </a:lnTo>
                  <a:lnTo>
                    <a:pt x="1869306" y="564300"/>
                  </a:lnTo>
                  <a:lnTo>
                    <a:pt x="0" y="564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501" r="-149669" b="-1098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869305" cy="5643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b="1">
                  <a:solidFill>
                    <a:srgbClr val="1F49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IT WORKS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227039" y="9938147"/>
            <a:ext cx="576520" cy="247079"/>
            <a:chOff x="0" y="0"/>
            <a:chExt cx="768693" cy="3294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68697" cy="329441"/>
            </a:xfrm>
            <a:custGeom>
              <a:avLst/>
              <a:gdLst/>
              <a:ahLst/>
              <a:cxnLst/>
              <a:rect l="l" t="t" r="r" b="b"/>
              <a:pathLst>
                <a:path w="768697" h="329441">
                  <a:moveTo>
                    <a:pt x="0" y="0"/>
                  </a:moveTo>
                  <a:lnTo>
                    <a:pt x="768697" y="0"/>
                  </a:lnTo>
                  <a:lnTo>
                    <a:pt x="768697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6" r="-4986" b="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68693" cy="338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1"/>
                </a:lnSpc>
              </a:pPr>
              <a:r>
                <a:rPr lang="en-US" sz="1351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192245" y="4374195"/>
            <a:ext cx="678739" cy="678739"/>
          </a:xfrm>
          <a:custGeom>
            <a:avLst/>
            <a:gdLst/>
            <a:ahLst/>
            <a:cxnLst/>
            <a:rect l="l" t="t" r="r" b="b"/>
            <a:pathLst>
              <a:path w="678739" h="678739">
                <a:moveTo>
                  <a:pt x="0" y="0"/>
                </a:moveTo>
                <a:lnTo>
                  <a:pt x="678739" y="0"/>
                </a:lnTo>
                <a:lnTo>
                  <a:pt x="678739" y="678739"/>
                </a:lnTo>
                <a:lnTo>
                  <a:pt x="0" y="6787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13594966" y="1812629"/>
            <a:ext cx="4373550" cy="8139262"/>
            <a:chOff x="0" y="0"/>
            <a:chExt cx="3761382" cy="700000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61432" cy="7000006"/>
            </a:xfrm>
            <a:custGeom>
              <a:avLst/>
              <a:gdLst/>
              <a:ahLst/>
              <a:cxnLst/>
              <a:rect l="l" t="t" r="r" b="b"/>
              <a:pathLst>
                <a:path w="3761432" h="7000006">
                  <a:moveTo>
                    <a:pt x="0" y="113184"/>
                  </a:moveTo>
                  <a:cubicBezTo>
                    <a:pt x="0" y="50684"/>
                    <a:pt x="49914" y="0"/>
                    <a:pt x="111464" y="0"/>
                  </a:cubicBezTo>
                  <a:lnTo>
                    <a:pt x="3649956" y="0"/>
                  </a:lnTo>
                  <a:cubicBezTo>
                    <a:pt x="3711506" y="0"/>
                    <a:pt x="3761432" y="50684"/>
                    <a:pt x="3761432" y="113184"/>
                  </a:cubicBezTo>
                  <a:lnTo>
                    <a:pt x="3761432" y="6886822"/>
                  </a:lnTo>
                  <a:cubicBezTo>
                    <a:pt x="3761432" y="6949322"/>
                    <a:pt x="3711506" y="7000006"/>
                    <a:pt x="3649956" y="7000006"/>
                  </a:cubicBezTo>
                  <a:lnTo>
                    <a:pt x="111464" y="7000006"/>
                  </a:lnTo>
                  <a:cubicBezTo>
                    <a:pt x="49914" y="7000005"/>
                    <a:pt x="0" y="6949322"/>
                    <a:pt x="0" y="6886822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Freeform 36"/>
          <p:cNvSpPr/>
          <p:nvPr/>
        </p:nvSpPr>
        <p:spPr>
          <a:xfrm>
            <a:off x="-64901" y="1828987"/>
            <a:ext cx="733677" cy="440206"/>
          </a:xfrm>
          <a:custGeom>
            <a:avLst/>
            <a:gdLst/>
            <a:ahLst/>
            <a:cxnLst/>
            <a:rect l="l" t="t" r="r" b="b"/>
            <a:pathLst>
              <a:path w="733677" h="440206">
                <a:moveTo>
                  <a:pt x="0" y="0"/>
                </a:moveTo>
                <a:lnTo>
                  <a:pt x="733677" y="0"/>
                </a:lnTo>
                <a:lnTo>
                  <a:pt x="733677" y="440206"/>
                </a:lnTo>
                <a:lnTo>
                  <a:pt x="0" y="440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-15093" y="4746401"/>
            <a:ext cx="733677" cy="440206"/>
          </a:xfrm>
          <a:custGeom>
            <a:avLst/>
            <a:gdLst/>
            <a:ahLst/>
            <a:cxnLst/>
            <a:rect l="l" t="t" r="r" b="b"/>
            <a:pathLst>
              <a:path w="733677" h="440206">
                <a:moveTo>
                  <a:pt x="0" y="0"/>
                </a:moveTo>
                <a:lnTo>
                  <a:pt x="733677" y="0"/>
                </a:lnTo>
                <a:lnTo>
                  <a:pt x="733677" y="440206"/>
                </a:lnTo>
                <a:lnTo>
                  <a:pt x="0" y="440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8" name="Group 38"/>
          <p:cNvGrpSpPr/>
          <p:nvPr/>
        </p:nvGrpSpPr>
        <p:grpSpPr>
          <a:xfrm>
            <a:off x="-64901" y="7552489"/>
            <a:ext cx="13243841" cy="2661315"/>
            <a:chOff x="0" y="0"/>
            <a:chExt cx="17658454" cy="3548420"/>
          </a:xfrm>
        </p:grpSpPr>
        <p:grpSp>
          <p:nvGrpSpPr>
            <p:cNvPr id="39" name="Group 39"/>
            <p:cNvGrpSpPr/>
            <p:nvPr/>
          </p:nvGrpSpPr>
          <p:grpSpPr>
            <a:xfrm>
              <a:off x="1044647" y="0"/>
              <a:ext cx="4667085" cy="570731"/>
              <a:chOff x="0" y="0"/>
              <a:chExt cx="4667085" cy="57073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667086" cy="570728"/>
              </a:xfrm>
              <a:custGeom>
                <a:avLst/>
                <a:gdLst/>
                <a:ahLst/>
                <a:cxnLst/>
                <a:rect l="l" t="t" r="r" b="b"/>
                <a:pathLst>
                  <a:path w="4667086" h="570728">
                    <a:moveTo>
                      <a:pt x="0" y="0"/>
                    </a:moveTo>
                    <a:lnTo>
                      <a:pt x="4667086" y="0"/>
                    </a:lnTo>
                    <a:lnTo>
                      <a:pt x="4667086" y="570728"/>
                    </a:lnTo>
                    <a:lnTo>
                      <a:pt x="0" y="5707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1234" b="-107440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4667085" cy="5707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1">
                    <a:solidFill>
                      <a:srgbClr val="1F497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WHY IT IS UNIQUE</a:t>
                </a:r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0" y="0"/>
              <a:ext cx="978236" cy="586941"/>
            </a:xfrm>
            <a:custGeom>
              <a:avLst/>
              <a:gdLst/>
              <a:ahLst/>
              <a:cxnLst/>
              <a:rect l="l" t="t" r="r" b="b"/>
              <a:pathLst>
                <a:path w="978236" h="586941">
                  <a:moveTo>
                    <a:pt x="0" y="0"/>
                  </a:moveTo>
                  <a:lnTo>
                    <a:pt x="978236" y="0"/>
                  </a:lnTo>
                  <a:lnTo>
                    <a:pt x="978236" y="586941"/>
                  </a:lnTo>
                  <a:lnTo>
                    <a:pt x="0" y="586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12" y="721479"/>
              <a:ext cx="9851893" cy="462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516" lvl="1" indent="-226758" algn="l">
                <a:lnSpc>
                  <a:spcPts val="2940"/>
                </a:lnSpc>
                <a:buAutoNum type="arabicPeriod"/>
              </a:pPr>
              <a:r>
                <a:rPr lang="en-US" sz="21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HIGH-FREQUENCY AIFARE MONITORING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3212" y="2424721"/>
              <a:ext cx="12959924" cy="503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695" lvl="1" indent="-248348" algn="l">
                <a:lnSpc>
                  <a:spcPts val="3220"/>
                </a:lnSpc>
                <a:buAutoNum type="arabicPeriod"/>
              </a:pPr>
              <a:r>
                <a:rPr lang="en-US" sz="23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Our system is compatible to work with diferent APIs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3212" y="1307353"/>
              <a:ext cx="7560072" cy="462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516" lvl="1" indent="-226758" algn="l">
                <a:lnSpc>
                  <a:spcPts val="2940"/>
                </a:lnSpc>
                <a:buAutoNum type="arabicPeriod"/>
              </a:pPr>
              <a:r>
                <a:rPr lang="en-US" sz="21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ROUTE LEVEL + OVERALL APIX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5354" y="1859327"/>
              <a:ext cx="13863830" cy="462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516" lvl="1" indent="-226758" algn="l">
                <a:lnSpc>
                  <a:spcPts val="2940"/>
                </a:lnSpc>
                <a:buAutoNum type="arabicPeriod"/>
              </a:pPr>
              <a:r>
                <a:rPr lang="en-US" sz="21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PURPOSE-BUILT  AUTOMATED COLLECTION ENGINE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3212" y="3045308"/>
              <a:ext cx="16815242" cy="5031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695" lvl="1" indent="-248348" algn="l">
                <a:lnSpc>
                  <a:spcPts val="3220"/>
                </a:lnSpc>
                <a:buAutoNum type="arabicPeriod"/>
              </a:pPr>
              <a:r>
                <a:rPr lang="en-US" sz="23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Our system is compatibe  to work with  seasonal, holiday and other factors.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19118" y="5223788"/>
            <a:ext cx="1564068" cy="813349"/>
            <a:chOff x="0" y="0"/>
            <a:chExt cx="2494003" cy="129693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94007" cy="1296929"/>
            </a:xfrm>
            <a:custGeom>
              <a:avLst/>
              <a:gdLst/>
              <a:ahLst/>
              <a:cxnLst/>
              <a:rect l="l" t="t" r="r" b="b"/>
              <a:pathLst>
                <a:path w="2494007" h="1296929">
                  <a:moveTo>
                    <a:pt x="0" y="0"/>
                  </a:moveTo>
                  <a:lnTo>
                    <a:pt x="2494007" y="0"/>
                  </a:lnTo>
                  <a:lnTo>
                    <a:pt x="2494007" y="1296929"/>
                  </a:lnTo>
                  <a:lnTo>
                    <a:pt x="0" y="1296929"/>
                  </a:lnTo>
                  <a:close/>
                </a:path>
              </a:pathLst>
            </a:custGeom>
            <a:solidFill>
              <a:srgbClr val="F2C8AA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494003" cy="12969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99"/>
                </a:lnSpc>
              </a:pPr>
              <a:r>
                <a:rPr lang="en-US" sz="24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</a:t>
              </a:r>
            </a:p>
            <a:p>
              <a:pPr algn="ctr">
                <a:lnSpc>
                  <a:spcPts val="2899"/>
                </a:lnSpc>
              </a:pPr>
              <a:r>
                <a:rPr lang="en-US" sz="24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sources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648194" y="5213990"/>
            <a:ext cx="2166915" cy="557404"/>
            <a:chOff x="0" y="0"/>
            <a:chExt cx="2099989" cy="54018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099991" cy="540178"/>
            </a:xfrm>
            <a:custGeom>
              <a:avLst/>
              <a:gdLst/>
              <a:ahLst/>
              <a:cxnLst/>
              <a:rect l="l" t="t" r="r" b="b"/>
              <a:pathLst>
                <a:path w="2099991" h="540178">
                  <a:moveTo>
                    <a:pt x="0" y="0"/>
                  </a:moveTo>
                  <a:lnTo>
                    <a:pt x="2099991" y="0"/>
                  </a:lnTo>
                  <a:lnTo>
                    <a:pt x="2099991" y="540178"/>
                  </a:lnTo>
                  <a:lnTo>
                    <a:pt x="0" y="5401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78" r="16341" b="1703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2099989" cy="549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3"/>
                </a:lnSpc>
              </a:pPr>
              <a:r>
                <a:rPr lang="en-US" sz="16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</a:t>
              </a:r>
            </a:p>
            <a:p>
              <a:pPr algn="l">
                <a:lnSpc>
                  <a:spcPts val="2013"/>
                </a:lnSpc>
              </a:pPr>
              <a:r>
                <a:rPr lang="en-US" sz="16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WEIGHTING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63992" y="5052934"/>
            <a:ext cx="2166915" cy="984203"/>
            <a:chOff x="0" y="0"/>
            <a:chExt cx="2099989" cy="95380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099991" cy="953786"/>
            </a:xfrm>
            <a:custGeom>
              <a:avLst/>
              <a:gdLst/>
              <a:ahLst/>
              <a:cxnLst/>
              <a:rect l="l" t="t" r="r" b="b"/>
              <a:pathLst>
                <a:path w="2099991" h="953786">
                  <a:moveTo>
                    <a:pt x="0" y="0"/>
                  </a:moveTo>
                  <a:lnTo>
                    <a:pt x="2099991" y="0"/>
                  </a:lnTo>
                  <a:lnTo>
                    <a:pt x="2099991" y="953786"/>
                  </a:lnTo>
                  <a:lnTo>
                    <a:pt x="0" y="953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94" r="16341" b="530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2099989" cy="953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3"/>
                </a:lnSpc>
              </a:pPr>
              <a:r>
                <a:rPr lang="en-US" sz="19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CLEANING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9188" y="5285714"/>
            <a:ext cx="1960204" cy="835960"/>
            <a:chOff x="0" y="0"/>
            <a:chExt cx="1685833" cy="71895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85884" cy="718951"/>
            </a:xfrm>
            <a:custGeom>
              <a:avLst/>
              <a:gdLst/>
              <a:ahLst/>
              <a:cxnLst/>
              <a:rect l="l" t="t" r="r" b="b"/>
              <a:pathLst>
                <a:path w="1685884" h="718951">
                  <a:moveTo>
                    <a:pt x="0" y="11625"/>
                  </a:moveTo>
                  <a:cubicBezTo>
                    <a:pt x="0" y="5206"/>
                    <a:pt x="22371" y="0"/>
                    <a:pt x="49958" y="0"/>
                  </a:cubicBezTo>
                  <a:lnTo>
                    <a:pt x="1635893" y="0"/>
                  </a:lnTo>
                  <a:cubicBezTo>
                    <a:pt x="1663479" y="0"/>
                    <a:pt x="1685884" y="5206"/>
                    <a:pt x="1685884" y="11625"/>
                  </a:cubicBezTo>
                  <a:lnTo>
                    <a:pt x="1685884" y="707325"/>
                  </a:lnTo>
                  <a:cubicBezTo>
                    <a:pt x="1685884" y="713744"/>
                    <a:pt x="1663479" y="718951"/>
                    <a:pt x="1635893" y="718951"/>
                  </a:cubicBezTo>
                  <a:lnTo>
                    <a:pt x="49958" y="718951"/>
                  </a:lnTo>
                  <a:cubicBezTo>
                    <a:pt x="22371" y="718950"/>
                    <a:pt x="0" y="713744"/>
                    <a:pt x="0" y="707325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93658" y="5308324"/>
            <a:ext cx="1564068" cy="813349"/>
            <a:chOff x="0" y="0"/>
            <a:chExt cx="2494003" cy="12969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494007" cy="1296929"/>
            </a:xfrm>
            <a:custGeom>
              <a:avLst/>
              <a:gdLst/>
              <a:ahLst/>
              <a:cxnLst/>
              <a:rect l="l" t="t" r="r" b="b"/>
              <a:pathLst>
                <a:path w="2494007" h="1296929">
                  <a:moveTo>
                    <a:pt x="0" y="0"/>
                  </a:moveTo>
                  <a:lnTo>
                    <a:pt x="2494007" y="0"/>
                  </a:lnTo>
                  <a:lnTo>
                    <a:pt x="2494007" y="1296929"/>
                  </a:lnTo>
                  <a:lnTo>
                    <a:pt x="0" y="1296929"/>
                  </a:lnTo>
                  <a:close/>
                </a:path>
              </a:pathLst>
            </a:custGeom>
            <a:solidFill>
              <a:srgbClr val="F2C8AA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2494003" cy="12969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99"/>
                </a:lnSpc>
              </a:pPr>
              <a:r>
                <a:rPr lang="en-US" sz="24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</a:t>
              </a:r>
            </a:p>
            <a:p>
              <a:pPr algn="ctr">
                <a:lnSpc>
                  <a:spcPts val="2899"/>
                </a:lnSpc>
              </a:pPr>
              <a:r>
                <a:rPr lang="en-US" sz="24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sources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607689" y="5140813"/>
            <a:ext cx="2122857" cy="861986"/>
            <a:chOff x="0" y="0"/>
            <a:chExt cx="2057291" cy="83536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057294" cy="835346"/>
            </a:xfrm>
            <a:custGeom>
              <a:avLst/>
              <a:gdLst/>
              <a:ahLst/>
              <a:cxnLst/>
              <a:rect l="l" t="t" r="r" b="b"/>
              <a:pathLst>
                <a:path w="2057294" h="835346">
                  <a:moveTo>
                    <a:pt x="0" y="0"/>
                  </a:moveTo>
                  <a:lnTo>
                    <a:pt x="2057294" y="0"/>
                  </a:lnTo>
                  <a:lnTo>
                    <a:pt x="2057294" y="835346"/>
                  </a:lnTo>
                  <a:lnTo>
                    <a:pt x="0" y="835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09" r="14604" b="463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057291" cy="835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3"/>
                </a:lnSpc>
              </a:pPr>
              <a:r>
                <a:rPr lang="en-US" sz="18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Daily </a:t>
              </a:r>
            </a:p>
            <a:p>
              <a:pPr algn="l">
                <a:lnSpc>
                  <a:spcPts val="2613"/>
                </a:lnSpc>
              </a:pPr>
              <a:r>
                <a:rPr lang="en-US" sz="21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APIx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086501" y="5308324"/>
            <a:ext cx="1960204" cy="813349"/>
            <a:chOff x="0" y="0"/>
            <a:chExt cx="1685833" cy="69950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685884" cy="699505"/>
            </a:xfrm>
            <a:custGeom>
              <a:avLst/>
              <a:gdLst/>
              <a:ahLst/>
              <a:cxnLst/>
              <a:rect l="l" t="t" r="r" b="b"/>
              <a:pathLst>
                <a:path w="1685884" h="699505">
                  <a:moveTo>
                    <a:pt x="0" y="11310"/>
                  </a:moveTo>
                  <a:cubicBezTo>
                    <a:pt x="0" y="5065"/>
                    <a:pt x="22371" y="0"/>
                    <a:pt x="49958" y="0"/>
                  </a:cubicBezTo>
                  <a:lnTo>
                    <a:pt x="1635893" y="0"/>
                  </a:lnTo>
                  <a:cubicBezTo>
                    <a:pt x="1663479" y="0"/>
                    <a:pt x="1685884" y="5065"/>
                    <a:pt x="1685884" y="11310"/>
                  </a:cubicBezTo>
                  <a:lnTo>
                    <a:pt x="1685884" y="688194"/>
                  </a:lnTo>
                  <a:cubicBezTo>
                    <a:pt x="1685884" y="694440"/>
                    <a:pt x="1663479" y="699505"/>
                    <a:pt x="1635893" y="699505"/>
                  </a:cubicBezTo>
                  <a:lnTo>
                    <a:pt x="49958" y="699505"/>
                  </a:lnTo>
                  <a:cubicBezTo>
                    <a:pt x="22371" y="699504"/>
                    <a:pt x="0" y="694440"/>
                    <a:pt x="0" y="688194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4866" y="5308324"/>
            <a:ext cx="2216041" cy="813349"/>
            <a:chOff x="0" y="0"/>
            <a:chExt cx="1905860" cy="69950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05911" cy="699505"/>
            </a:xfrm>
            <a:custGeom>
              <a:avLst/>
              <a:gdLst/>
              <a:ahLst/>
              <a:cxnLst/>
              <a:rect l="l" t="t" r="r" b="b"/>
              <a:pathLst>
                <a:path w="1905911" h="699505">
                  <a:moveTo>
                    <a:pt x="0" y="11310"/>
                  </a:moveTo>
                  <a:cubicBezTo>
                    <a:pt x="0" y="5065"/>
                    <a:pt x="25291" y="0"/>
                    <a:pt x="56478" y="0"/>
                  </a:cubicBezTo>
                  <a:lnTo>
                    <a:pt x="1849402" y="0"/>
                  </a:lnTo>
                  <a:cubicBezTo>
                    <a:pt x="1880589" y="0"/>
                    <a:pt x="1905911" y="5065"/>
                    <a:pt x="1905911" y="11310"/>
                  </a:cubicBezTo>
                  <a:lnTo>
                    <a:pt x="1905911" y="688194"/>
                  </a:lnTo>
                  <a:cubicBezTo>
                    <a:pt x="1905911" y="694440"/>
                    <a:pt x="1880589" y="699505"/>
                    <a:pt x="1849402" y="699505"/>
                  </a:cubicBezTo>
                  <a:lnTo>
                    <a:pt x="56478" y="699505"/>
                  </a:lnTo>
                  <a:cubicBezTo>
                    <a:pt x="25291" y="699504"/>
                    <a:pt x="0" y="694440"/>
                    <a:pt x="0" y="688194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027861" y="5213990"/>
            <a:ext cx="1960204" cy="846149"/>
            <a:chOff x="0" y="0"/>
            <a:chExt cx="1685833" cy="72771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685884" cy="727714"/>
            </a:xfrm>
            <a:custGeom>
              <a:avLst/>
              <a:gdLst/>
              <a:ahLst/>
              <a:cxnLst/>
              <a:rect l="l" t="t" r="r" b="b"/>
              <a:pathLst>
                <a:path w="1685884" h="727714">
                  <a:moveTo>
                    <a:pt x="0" y="11766"/>
                  </a:moveTo>
                  <a:cubicBezTo>
                    <a:pt x="0" y="5269"/>
                    <a:pt x="22371" y="0"/>
                    <a:pt x="49958" y="0"/>
                  </a:cubicBezTo>
                  <a:lnTo>
                    <a:pt x="1635893" y="0"/>
                  </a:lnTo>
                  <a:cubicBezTo>
                    <a:pt x="1663479" y="0"/>
                    <a:pt x="1685884" y="5269"/>
                    <a:pt x="1685884" y="11766"/>
                  </a:cubicBezTo>
                  <a:lnTo>
                    <a:pt x="1685884" y="715947"/>
                  </a:lnTo>
                  <a:cubicBezTo>
                    <a:pt x="1685884" y="722444"/>
                    <a:pt x="1663479" y="727714"/>
                    <a:pt x="1635893" y="727714"/>
                  </a:cubicBezTo>
                  <a:lnTo>
                    <a:pt x="49958" y="727714"/>
                  </a:lnTo>
                  <a:cubicBezTo>
                    <a:pt x="22371" y="727713"/>
                    <a:pt x="0" y="722444"/>
                    <a:pt x="0" y="715947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027861" y="5199470"/>
            <a:ext cx="2122857" cy="861986"/>
            <a:chOff x="0" y="0"/>
            <a:chExt cx="2057291" cy="83536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057294" cy="835346"/>
            </a:xfrm>
            <a:custGeom>
              <a:avLst/>
              <a:gdLst/>
              <a:ahLst/>
              <a:cxnLst/>
              <a:rect l="l" t="t" r="r" b="b"/>
              <a:pathLst>
                <a:path w="2057294" h="835346">
                  <a:moveTo>
                    <a:pt x="0" y="0"/>
                  </a:moveTo>
                  <a:lnTo>
                    <a:pt x="2057294" y="0"/>
                  </a:lnTo>
                  <a:lnTo>
                    <a:pt x="2057294" y="835346"/>
                  </a:lnTo>
                  <a:lnTo>
                    <a:pt x="0" y="835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09" r="14604" b="463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2057291" cy="835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3"/>
                </a:lnSpc>
              </a:pPr>
              <a:r>
                <a:rPr lang="en-US" sz="18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Historical and calendar context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300301" y="5209168"/>
            <a:ext cx="2166915" cy="1257884"/>
            <a:chOff x="0" y="0"/>
            <a:chExt cx="2099989" cy="121903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099991" cy="1219010"/>
            </a:xfrm>
            <a:custGeom>
              <a:avLst/>
              <a:gdLst/>
              <a:ahLst/>
              <a:cxnLst/>
              <a:rect l="l" t="t" r="r" b="b"/>
              <a:pathLst>
                <a:path w="2099991" h="1219010">
                  <a:moveTo>
                    <a:pt x="0" y="0"/>
                  </a:moveTo>
                  <a:lnTo>
                    <a:pt x="2099991" y="0"/>
                  </a:lnTo>
                  <a:lnTo>
                    <a:pt x="2099991" y="1219010"/>
                  </a:lnTo>
                  <a:lnTo>
                    <a:pt x="0" y="1219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9" r="16341" b="6323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2099989" cy="1219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3"/>
                </a:lnSpc>
              </a:pPr>
              <a:r>
                <a:rPr lang="en-US" sz="21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automated</a:t>
              </a:r>
            </a:p>
            <a:p>
              <a:pPr algn="l">
                <a:lnSpc>
                  <a:spcPts val="2613"/>
                </a:lnSpc>
              </a:pPr>
              <a:r>
                <a:rPr lang="en-US" sz="21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scraping</a:t>
              </a:r>
            </a:p>
            <a:p>
              <a:pPr algn="l">
                <a:lnSpc>
                  <a:spcPts val="2613"/>
                </a:lnSpc>
              </a:pPr>
              <a:endParaRPr lang="en-US" sz="2177" b="1">
                <a:solidFill>
                  <a:srgbClr val="0F2D5F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884431" y="5199470"/>
            <a:ext cx="2166915" cy="984203"/>
            <a:chOff x="0" y="0"/>
            <a:chExt cx="2099989" cy="95380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099991" cy="953786"/>
            </a:xfrm>
            <a:custGeom>
              <a:avLst/>
              <a:gdLst/>
              <a:ahLst/>
              <a:cxnLst/>
              <a:rect l="l" t="t" r="r" b="b"/>
              <a:pathLst>
                <a:path w="2099991" h="953786">
                  <a:moveTo>
                    <a:pt x="0" y="0"/>
                  </a:moveTo>
                  <a:lnTo>
                    <a:pt x="2099991" y="0"/>
                  </a:lnTo>
                  <a:lnTo>
                    <a:pt x="2099991" y="953786"/>
                  </a:lnTo>
                  <a:lnTo>
                    <a:pt x="0" y="953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94" r="16341" b="530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2099989" cy="953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3"/>
                </a:lnSpc>
              </a:pPr>
              <a:r>
                <a:rPr lang="en-US" sz="19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CLEANING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369586" y="5223788"/>
            <a:ext cx="1960204" cy="836351"/>
            <a:chOff x="0" y="0"/>
            <a:chExt cx="1685833" cy="71928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685884" cy="719287"/>
            </a:xfrm>
            <a:custGeom>
              <a:avLst/>
              <a:gdLst/>
              <a:ahLst/>
              <a:cxnLst/>
              <a:rect l="l" t="t" r="r" b="b"/>
              <a:pathLst>
                <a:path w="1685884" h="719287">
                  <a:moveTo>
                    <a:pt x="0" y="11630"/>
                  </a:moveTo>
                  <a:cubicBezTo>
                    <a:pt x="0" y="5208"/>
                    <a:pt x="22371" y="0"/>
                    <a:pt x="49958" y="0"/>
                  </a:cubicBezTo>
                  <a:lnTo>
                    <a:pt x="1635893" y="0"/>
                  </a:lnTo>
                  <a:cubicBezTo>
                    <a:pt x="1663479" y="0"/>
                    <a:pt x="1685884" y="5208"/>
                    <a:pt x="1685884" y="11630"/>
                  </a:cubicBezTo>
                  <a:lnTo>
                    <a:pt x="1685884" y="707657"/>
                  </a:lnTo>
                  <a:cubicBezTo>
                    <a:pt x="1685884" y="714079"/>
                    <a:pt x="1663479" y="719287"/>
                    <a:pt x="1635893" y="719287"/>
                  </a:cubicBezTo>
                  <a:lnTo>
                    <a:pt x="49958" y="719287"/>
                  </a:lnTo>
                  <a:cubicBezTo>
                    <a:pt x="22371" y="719287"/>
                    <a:pt x="0" y="714079"/>
                    <a:pt x="0" y="707657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615820" y="5376607"/>
            <a:ext cx="2166915" cy="591948"/>
            <a:chOff x="0" y="0"/>
            <a:chExt cx="2099989" cy="57366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099991" cy="573654"/>
            </a:xfrm>
            <a:custGeom>
              <a:avLst/>
              <a:gdLst/>
              <a:ahLst/>
              <a:cxnLst/>
              <a:rect l="l" t="t" r="r" b="b"/>
              <a:pathLst>
                <a:path w="2099991" h="573654">
                  <a:moveTo>
                    <a:pt x="0" y="0"/>
                  </a:moveTo>
                  <a:lnTo>
                    <a:pt x="2099991" y="0"/>
                  </a:lnTo>
                  <a:lnTo>
                    <a:pt x="2099991" y="573654"/>
                  </a:lnTo>
                  <a:lnTo>
                    <a:pt x="0" y="573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24" r="16341" b="2187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2099989" cy="583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3"/>
                </a:lnSpc>
              </a:pPr>
              <a:r>
                <a:rPr lang="en-US" sz="16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</a:t>
              </a:r>
            </a:p>
            <a:p>
              <a:pPr algn="l">
                <a:lnSpc>
                  <a:spcPts val="2013"/>
                </a:lnSpc>
              </a:pPr>
              <a:r>
                <a:rPr lang="en-US" sz="16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WEIGHTING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4097461" y="1931840"/>
            <a:ext cx="3558884" cy="802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EXISTING CPI SYSTEM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Airfare under Transport &amp;     Communication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endParaRPr lang="en-US" sz="2516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consumer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price basket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weighted CPI calculation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monthly CPI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inflation and policy   analysis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              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sz="2516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APIx</a:t>
            </a: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proposes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higher-frequency </a:t>
            </a:r>
          </a:p>
          <a:p>
            <a:pPr algn="ctr">
              <a:lnSpc>
                <a:spcPts val="3019"/>
              </a:lnSpc>
              <a:spcBef>
                <a:spcPct val="0"/>
              </a:spcBef>
            </a:pPr>
            <a:r>
              <a:rPr lang="en-US" sz="2516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airfare insight</a:t>
            </a:r>
          </a:p>
        </p:txBody>
      </p:sp>
      <p:sp>
        <p:nvSpPr>
          <p:cNvPr id="86" name="Freeform 86"/>
          <p:cNvSpPr/>
          <p:nvPr/>
        </p:nvSpPr>
        <p:spPr>
          <a:xfrm rot="5400000">
            <a:off x="15772215" y="6606762"/>
            <a:ext cx="470230" cy="213955"/>
          </a:xfrm>
          <a:custGeom>
            <a:avLst/>
            <a:gdLst/>
            <a:ahLst/>
            <a:cxnLst/>
            <a:rect l="l" t="t" r="r" b="b"/>
            <a:pathLst>
              <a:path w="470230" h="213955">
                <a:moveTo>
                  <a:pt x="0" y="0"/>
                </a:moveTo>
                <a:lnTo>
                  <a:pt x="470230" y="0"/>
                </a:lnTo>
                <a:lnTo>
                  <a:pt x="470230" y="213954"/>
                </a:lnTo>
                <a:lnTo>
                  <a:pt x="0" y="213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7" name="Freeform 87"/>
          <p:cNvSpPr/>
          <p:nvPr/>
        </p:nvSpPr>
        <p:spPr>
          <a:xfrm rot="5400000">
            <a:off x="15770537" y="5482903"/>
            <a:ext cx="440197" cy="200289"/>
          </a:xfrm>
          <a:custGeom>
            <a:avLst/>
            <a:gdLst/>
            <a:ahLst/>
            <a:cxnLst/>
            <a:rect l="l" t="t" r="r" b="b"/>
            <a:pathLst>
              <a:path w="440197" h="200289">
                <a:moveTo>
                  <a:pt x="0" y="0"/>
                </a:moveTo>
                <a:lnTo>
                  <a:pt x="440197" y="0"/>
                </a:lnTo>
                <a:lnTo>
                  <a:pt x="440197" y="200289"/>
                </a:lnTo>
                <a:lnTo>
                  <a:pt x="0" y="200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8" name="Freeform 88"/>
          <p:cNvSpPr/>
          <p:nvPr/>
        </p:nvSpPr>
        <p:spPr>
          <a:xfrm rot="5400000">
            <a:off x="15786749" y="8486192"/>
            <a:ext cx="441162" cy="200729"/>
          </a:xfrm>
          <a:custGeom>
            <a:avLst/>
            <a:gdLst/>
            <a:ahLst/>
            <a:cxnLst/>
            <a:rect l="l" t="t" r="r" b="b"/>
            <a:pathLst>
              <a:path w="441162" h="200729">
                <a:moveTo>
                  <a:pt x="0" y="0"/>
                </a:moveTo>
                <a:lnTo>
                  <a:pt x="441162" y="0"/>
                </a:lnTo>
                <a:lnTo>
                  <a:pt x="441162" y="200729"/>
                </a:lnTo>
                <a:lnTo>
                  <a:pt x="0" y="200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9" name="Freeform 89"/>
          <p:cNvSpPr/>
          <p:nvPr/>
        </p:nvSpPr>
        <p:spPr>
          <a:xfrm rot="5400000">
            <a:off x="15786749" y="7452125"/>
            <a:ext cx="441162" cy="200729"/>
          </a:xfrm>
          <a:custGeom>
            <a:avLst/>
            <a:gdLst/>
            <a:ahLst/>
            <a:cxnLst/>
            <a:rect l="l" t="t" r="r" b="b"/>
            <a:pathLst>
              <a:path w="441162" h="200729">
                <a:moveTo>
                  <a:pt x="0" y="0"/>
                </a:moveTo>
                <a:lnTo>
                  <a:pt x="441162" y="0"/>
                </a:lnTo>
                <a:lnTo>
                  <a:pt x="441162" y="200728"/>
                </a:lnTo>
                <a:lnTo>
                  <a:pt x="0" y="20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0" name="Freeform 90"/>
          <p:cNvSpPr/>
          <p:nvPr/>
        </p:nvSpPr>
        <p:spPr>
          <a:xfrm rot="5400000">
            <a:off x="15756247" y="4331939"/>
            <a:ext cx="441162" cy="200729"/>
          </a:xfrm>
          <a:custGeom>
            <a:avLst/>
            <a:gdLst/>
            <a:ahLst/>
            <a:cxnLst/>
            <a:rect l="l" t="t" r="r" b="b"/>
            <a:pathLst>
              <a:path w="441162" h="200729">
                <a:moveTo>
                  <a:pt x="0" y="0"/>
                </a:moveTo>
                <a:lnTo>
                  <a:pt x="441162" y="0"/>
                </a:lnTo>
                <a:lnTo>
                  <a:pt x="441162" y="200729"/>
                </a:lnTo>
                <a:lnTo>
                  <a:pt x="0" y="2007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1" name="Group 91"/>
          <p:cNvGrpSpPr/>
          <p:nvPr/>
        </p:nvGrpSpPr>
        <p:grpSpPr>
          <a:xfrm>
            <a:off x="14762045" y="9449"/>
            <a:ext cx="3313652" cy="1684306"/>
            <a:chOff x="0" y="0"/>
            <a:chExt cx="4418203" cy="2245741"/>
          </a:xfrm>
        </p:grpSpPr>
        <p:sp>
          <p:nvSpPr>
            <p:cNvPr id="92" name="Freeform 92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77436" y="219627"/>
            <a:ext cx="1915887" cy="1249101"/>
            <a:chOff x="0" y="0"/>
            <a:chExt cx="2554516" cy="1665468"/>
          </a:xfrm>
        </p:grpSpPr>
        <p:sp>
          <p:nvSpPr>
            <p:cNvPr id="94" name="Freeform 9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kasukaabe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419118" y="6382517"/>
            <a:ext cx="2032546" cy="813349"/>
            <a:chOff x="0" y="0"/>
            <a:chExt cx="3241021" cy="129693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241025" cy="1296929"/>
            </a:xfrm>
            <a:custGeom>
              <a:avLst/>
              <a:gdLst/>
              <a:ahLst/>
              <a:cxnLst/>
              <a:rect l="l" t="t" r="r" b="b"/>
              <a:pathLst>
                <a:path w="3241025" h="1296929">
                  <a:moveTo>
                    <a:pt x="0" y="0"/>
                  </a:moveTo>
                  <a:lnTo>
                    <a:pt x="3241025" y="0"/>
                  </a:lnTo>
                  <a:lnTo>
                    <a:pt x="3241025" y="1296929"/>
                  </a:lnTo>
                  <a:lnTo>
                    <a:pt x="0" y="1296929"/>
                  </a:lnTo>
                  <a:close/>
                </a:path>
              </a:pathLst>
            </a:custGeom>
            <a:solidFill>
              <a:srgbClr val="F2C8AA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3241021" cy="12969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99"/>
                </a:lnSpc>
              </a:pPr>
              <a:r>
                <a:rPr lang="en-US" sz="24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</a:t>
              </a:r>
            </a:p>
            <a:p>
              <a:pPr algn="ctr">
                <a:lnSpc>
                  <a:spcPts val="2899"/>
                </a:lnSpc>
              </a:pPr>
              <a:r>
                <a:rPr lang="en-US" sz="24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sources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01142" y="6444442"/>
            <a:ext cx="2547336" cy="835960"/>
            <a:chOff x="0" y="0"/>
            <a:chExt cx="2190784" cy="71895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190834" cy="718951"/>
            </a:xfrm>
            <a:custGeom>
              <a:avLst/>
              <a:gdLst/>
              <a:ahLst/>
              <a:cxnLst/>
              <a:rect l="l" t="t" r="r" b="b"/>
              <a:pathLst>
                <a:path w="2190834" h="718951">
                  <a:moveTo>
                    <a:pt x="0" y="11625"/>
                  </a:moveTo>
                  <a:cubicBezTo>
                    <a:pt x="0" y="5206"/>
                    <a:pt x="29072" y="0"/>
                    <a:pt x="64921" y="0"/>
                  </a:cubicBezTo>
                  <a:lnTo>
                    <a:pt x="2125885" y="0"/>
                  </a:lnTo>
                  <a:cubicBezTo>
                    <a:pt x="2161734" y="0"/>
                    <a:pt x="2190834" y="5206"/>
                    <a:pt x="2190834" y="11625"/>
                  </a:cubicBezTo>
                  <a:lnTo>
                    <a:pt x="2190834" y="707325"/>
                  </a:lnTo>
                  <a:cubicBezTo>
                    <a:pt x="2190834" y="713744"/>
                    <a:pt x="2161734" y="718951"/>
                    <a:pt x="2125885" y="718951"/>
                  </a:cubicBezTo>
                  <a:lnTo>
                    <a:pt x="64921" y="718951"/>
                  </a:lnTo>
                  <a:cubicBezTo>
                    <a:pt x="29072" y="718950"/>
                    <a:pt x="0" y="713744"/>
                    <a:pt x="0" y="707325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95265" y="6511874"/>
            <a:ext cx="2387644" cy="706993"/>
            <a:chOff x="0" y="0"/>
            <a:chExt cx="3807247" cy="1127345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807251" cy="1127339"/>
            </a:xfrm>
            <a:custGeom>
              <a:avLst/>
              <a:gdLst/>
              <a:ahLst/>
              <a:cxnLst/>
              <a:rect l="l" t="t" r="r" b="b"/>
              <a:pathLst>
                <a:path w="3807251" h="1127339">
                  <a:moveTo>
                    <a:pt x="0" y="0"/>
                  </a:moveTo>
                  <a:lnTo>
                    <a:pt x="3807251" y="0"/>
                  </a:lnTo>
                  <a:lnTo>
                    <a:pt x="3807251" y="1127339"/>
                  </a:lnTo>
                  <a:lnTo>
                    <a:pt x="0" y="1127339"/>
                  </a:lnTo>
                  <a:close/>
                </a:path>
              </a:pathLst>
            </a:custGeom>
            <a:solidFill>
              <a:srgbClr val="F2C8AA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3807247" cy="1136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39"/>
                </a:lnSpc>
              </a:pPr>
              <a:r>
                <a:rPr lang="en-US" sz="2116" b="1">
                  <a:solidFill>
                    <a:srgbClr val="1626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Expected normal fare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3885450" y="6467053"/>
            <a:ext cx="2547336" cy="813349"/>
            <a:chOff x="0" y="0"/>
            <a:chExt cx="2190784" cy="69950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190834" cy="699505"/>
            </a:xfrm>
            <a:custGeom>
              <a:avLst/>
              <a:gdLst/>
              <a:ahLst/>
              <a:cxnLst/>
              <a:rect l="l" t="t" r="r" b="b"/>
              <a:pathLst>
                <a:path w="2190834" h="699505">
                  <a:moveTo>
                    <a:pt x="0" y="11310"/>
                  </a:moveTo>
                  <a:cubicBezTo>
                    <a:pt x="0" y="5065"/>
                    <a:pt x="29072" y="0"/>
                    <a:pt x="64921" y="0"/>
                  </a:cubicBezTo>
                  <a:lnTo>
                    <a:pt x="2125885" y="0"/>
                  </a:lnTo>
                  <a:cubicBezTo>
                    <a:pt x="2161734" y="0"/>
                    <a:pt x="2190834" y="5065"/>
                    <a:pt x="2190834" y="11310"/>
                  </a:cubicBezTo>
                  <a:lnTo>
                    <a:pt x="2190834" y="688194"/>
                  </a:lnTo>
                  <a:cubicBezTo>
                    <a:pt x="2190834" y="694440"/>
                    <a:pt x="2161734" y="699505"/>
                    <a:pt x="2125885" y="699505"/>
                  </a:cubicBezTo>
                  <a:lnTo>
                    <a:pt x="64921" y="699505"/>
                  </a:lnTo>
                  <a:cubicBezTo>
                    <a:pt x="29072" y="699504"/>
                    <a:pt x="0" y="694440"/>
                    <a:pt x="0" y="688194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7663209" y="6393761"/>
            <a:ext cx="2758707" cy="861986"/>
            <a:chOff x="0" y="0"/>
            <a:chExt cx="2673502" cy="835363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673505" cy="835346"/>
            </a:xfrm>
            <a:custGeom>
              <a:avLst/>
              <a:gdLst/>
              <a:ahLst/>
              <a:cxnLst/>
              <a:rect l="l" t="t" r="r" b="b"/>
              <a:pathLst>
                <a:path w="2673505" h="835346">
                  <a:moveTo>
                    <a:pt x="0" y="0"/>
                  </a:moveTo>
                  <a:lnTo>
                    <a:pt x="2673505" y="0"/>
                  </a:lnTo>
                  <a:lnTo>
                    <a:pt x="2673505" y="835346"/>
                  </a:lnTo>
                  <a:lnTo>
                    <a:pt x="0" y="835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09" r="34287" b="463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2673502" cy="835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3"/>
                </a:lnSpc>
              </a:pPr>
              <a:r>
                <a:rPr lang="en-US" sz="18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Daily </a:t>
              </a:r>
            </a:p>
            <a:p>
              <a:pPr algn="l">
                <a:lnSpc>
                  <a:spcPts val="2613"/>
                </a:lnSpc>
              </a:pPr>
              <a:r>
                <a:rPr lang="en-US" sz="21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APIx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6909707" y="6466937"/>
            <a:ext cx="2547336" cy="846149"/>
            <a:chOff x="0" y="0"/>
            <a:chExt cx="2190784" cy="72771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2190834" cy="727714"/>
            </a:xfrm>
            <a:custGeom>
              <a:avLst/>
              <a:gdLst/>
              <a:ahLst/>
              <a:cxnLst/>
              <a:rect l="l" t="t" r="r" b="b"/>
              <a:pathLst>
                <a:path w="2190834" h="727714">
                  <a:moveTo>
                    <a:pt x="0" y="11766"/>
                  </a:moveTo>
                  <a:cubicBezTo>
                    <a:pt x="0" y="5269"/>
                    <a:pt x="29072" y="0"/>
                    <a:pt x="64921" y="0"/>
                  </a:cubicBezTo>
                  <a:lnTo>
                    <a:pt x="2125885" y="0"/>
                  </a:lnTo>
                  <a:cubicBezTo>
                    <a:pt x="2161734" y="0"/>
                    <a:pt x="2190834" y="5269"/>
                    <a:pt x="2190834" y="11766"/>
                  </a:cubicBezTo>
                  <a:lnTo>
                    <a:pt x="2190834" y="715947"/>
                  </a:lnTo>
                  <a:cubicBezTo>
                    <a:pt x="2190834" y="722444"/>
                    <a:pt x="2161734" y="727714"/>
                    <a:pt x="2125885" y="727714"/>
                  </a:cubicBezTo>
                  <a:lnTo>
                    <a:pt x="64921" y="727714"/>
                  </a:lnTo>
                  <a:cubicBezTo>
                    <a:pt x="29072" y="727713"/>
                    <a:pt x="0" y="722444"/>
                    <a:pt x="0" y="715947"/>
                  </a:cubicBezTo>
                  <a:close/>
                </a:path>
              </a:pathLst>
            </a:custGeom>
            <a:solidFill>
              <a:srgbClr val="FCFDFD"/>
            </a:solidFill>
            <a:ln w="19065" cap="sq">
              <a:solidFill>
                <a:srgbClr val="BBD0E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0043366" y="6476735"/>
            <a:ext cx="2601503" cy="836351"/>
            <a:chOff x="0" y="0"/>
            <a:chExt cx="3468671" cy="1115135"/>
          </a:xfrm>
        </p:grpSpPr>
        <p:grpSp>
          <p:nvGrpSpPr>
            <p:cNvPr id="112" name="Group 112"/>
            <p:cNvGrpSpPr/>
            <p:nvPr/>
          </p:nvGrpSpPr>
          <p:grpSpPr>
            <a:xfrm>
              <a:off x="47138" y="82568"/>
              <a:ext cx="3421533" cy="998394"/>
              <a:chOff x="0" y="0"/>
              <a:chExt cx="3241021" cy="945721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3241025" cy="945716"/>
              </a:xfrm>
              <a:custGeom>
                <a:avLst/>
                <a:gdLst/>
                <a:ahLst/>
                <a:cxnLst/>
                <a:rect l="l" t="t" r="r" b="b"/>
                <a:pathLst>
                  <a:path w="3241025" h="945716">
                    <a:moveTo>
                      <a:pt x="0" y="0"/>
                    </a:moveTo>
                    <a:lnTo>
                      <a:pt x="3241025" y="0"/>
                    </a:lnTo>
                    <a:lnTo>
                      <a:pt x="3241025" y="945716"/>
                    </a:lnTo>
                    <a:lnTo>
                      <a:pt x="0" y="9457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958" r="35623" b="2798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0" y="0"/>
                <a:ext cx="3241021" cy="94572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2216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Dashboard +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2216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API</a:t>
                </a: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0" y="0"/>
              <a:ext cx="3396447" cy="1115135"/>
              <a:chOff x="0" y="0"/>
              <a:chExt cx="2190784" cy="719287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2190834" cy="719287"/>
              </a:xfrm>
              <a:custGeom>
                <a:avLst/>
                <a:gdLst/>
                <a:ahLst/>
                <a:cxnLst/>
                <a:rect l="l" t="t" r="r" b="b"/>
                <a:pathLst>
                  <a:path w="2190834" h="719287">
                    <a:moveTo>
                      <a:pt x="0" y="11630"/>
                    </a:moveTo>
                    <a:cubicBezTo>
                      <a:pt x="0" y="5208"/>
                      <a:pt x="29072" y="0"/>
                      <a:pt x="64921" y="0"/>
                    </a:cubicBezTo>
                    <a:lnTo>
                      <a:pt x="2125885" y="0"/>
                    </a:lnTo>
                    <a:cubicBezTo>
                      <a:pt x="2161734" y="0"/>
                      <a:pt x="2190834" y="5208"/>
                      <a:pt x="2190834" y="11630"/>
                    </a:cubicBezTo>
                    <a:lnTo>
                      <a:pt x="2190834" y="707657"/>
                    </a:lnTo>
                    <a:cubicBezTo>
                      <a:pt x="2190834" y="714079"/>
                      <a:pt x="2161734" y="719287"/>
                      <a:pt x="2125885" y="719287"/>
                    </a:cubicBezTo>
                    <a:lnTo>
                      <a:pt x="64921" y="719287"/>
                    </a:lnTo>
                    <a:cubicBezTo>
                      <a:pt x="29072" y="719287"/>
                      <a:pt x="0" y="714079"/>
                      <a:pt x="0" y="707657"/>
                    </a:cubicBezTo>
                    <a:close/>
                  </a:path>
                </a:pathLst>
              </a:custGeom>
              <a:solidFill>
                <a:srgbClr val="FCFDFD"/>
              </a:solidFill>
              <a:ln w="19065" cap="sq">
                <a:solidFill>
                  <a:srgbClr val="BBD0E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0" y="116741"/>
              <a:ext cx="3421533" cy="998394"/>
              <a:chOff x="0" y="0"/>
              <a:chExt cx="3241021" cy="945721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3241025" cy="945716"/>
              </a:xfrm>
              <a:custGeom>
                <a:avLst/>
                <a:gdLst/>
                <a:ahLst/>
                <a:cxnLst/>
                <a:rect l="l" t="t" r="r" b="b"/>
                <a:pathLst>
                  <a:path w="3241025" h="945716">
                    <a:moveTo>
                      <a:pt x="0" y="0"/>
                    </a:moveTo>
                    <a:lnTo>
                      <a:pt x="3241025" y="0"/>
                    </a:lnTo>
                    <a:lnTo>
                      <a:pt x="3241025" y="945716"/>
                    </a:lnTo>
                    <a:lnTo>
                      <a:pt x="0" y="94571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958" r="35623" b="2798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0"/>
                <a:ext cx="3241021" cy="94572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2216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Dashboard +</a:t>
                </a:r>
              </a:p>
              <a:p>
                <a:pPr algn="ctr">
                  <a:lnSpc>
                    <a:spcPts val="2659"/>
                  </a:lnSpc>
                </a:pPr>
                <a:r>
                  <a:rPr lang="en-US" sz="2216" b="1">
                    <a:solidFill>
                      <a:srgbClr val="1626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API</a:t>
                </a:r>
              </a:p>
            </p:txBody>
          </p:sp>
        </p:grpSp>
      </p:grpSp>
      <p:grpSp>
        <p:nvGrpSpPr>
          <p:cNvPr id="120" name="Group 120"/>
          <p:cNvGrpSpPr/>
          <p:nvPr/>
        </p:nvGrpSpPr>
        <p:grpSpPr>
          <a:xfrm>
            <a:off x="7450520" y="6425471"/>
            <a:ext cx="2758707" cy="861986"/>
            <a:chOff x="0" y="0"/>
            <a:chExt cx="2673502" cy="835363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2673505" cy="835346"/>
            </a:xfrm>
            <a:custGeom>
              <a:avLst/>
              <a:gdLst/>
              <a:ahLst/>
              <a:cxnLst/>
              <a:rect l="l" t="t" r="r" b="b"/>
              <a:pathLst>
                <a:path w="2673505" h="835346">
                  <a:moveTo>
                    <a:pt x="0" y="0"/>
                  </a:moveTo>
                  <a:lnTo>
                    <a:pt x="2673505" y="0"/>
                  </a:lnTo>
                  <a:lnTo>
                    <a:pt x="2673505" y="835346"/>
                  </a:lnTo>
                  <a:lnTo>
                    <a:pt x="0" y="8353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09" r="34287" b="463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0"/>
              <a:ext cx="2673502" cy="835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33"/>
                </a:lnSpc>
              </a:pPr>
              <a:r>
                <a:rPr lang="en-US" sz="27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Daily APIx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971922" y="6294605"/>
            <a:ext cx="2815962" cy="1257884"/>
            <a:chOff x="0" y="0"/>
            <a:chExt cx="2728989" cy="1219034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2728992" cy="1219010"/>
            </a:xfrm>
            <a:custGeom>
              <a:avLst/>
              <a:gdLst/>
              <a:ahLst/>
              <a:cxnLst/>
              <a:rect l="l" t="t" r="r" b="b"/>
              <a:pathLst>
                <a:path w="2728992" h="1219010">
                  <a:moveTo>
                    <a:pt x="0" y="0"/>
                  </a:moveTo>
                  <a:lnTo>
                    <a:pt x="2728992" y="0"/>
                  </a:lnTo>
                  <a:lnTo>
                    <a:pt x="2728992" y="1219010"/>
                  </a:lnTo>
                  <a:lnTo>
                    <a:pt x="0" y="1219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99" r="35623" b="6323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0"/>
              <a:ext cx="2728989" cy="1219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3"/>
                </a:lnSpc>
              </a:pPr>
              <a:r>
                <a:rPr lang="en-US" sz="2177" b="1">
                  <a:solidFill>
                    <a:srgbClr val="0F2D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Actual vs expected</a:t>
              </a:r>
            </a:p>
            <a:p>
              <a:pPr algn="l">
                <a:lnSpc>
                  <a:spcPts val="2613"/>
                </a:lnSpc>
              </a:pPr>
              <a:endParaRPr lang="en-US" sz="2177" b="1">
                <a:solidFill>
                  <a:srgbClr val="0F2D5F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EE35E1EA-5749-2591-AE7A-F1617C92BDA1}"/>
              </a:ext>
            </a:extLst>
          </p:cNvPr>
          <p:cNvSpPr txBox="1"/>
          <p:nvPr/>
        </p:nvSpPr>
        <p:spPr>
          <a:xfrm>
            <a:off x="13185058" y="21385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260" y="76634"/>
            <a:ext cx="18181740" cy="9889807"/>
            <a:chOff x="0" y="0"/>
            <a:chExt cx="24242320" cy="13186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42421" cy="13186411"/>
            </a:xfrm>
            <a:custGeom>
              <a:avLst/>
              <a:gdLst/>
              <a:ahLst/>
              <a:cxnLst/>
              <a:rect l="l" t="t" r="r" b="b"/>
              <a:pathLst>
                <a:path w="24242421" h="13186411">
                  <a:moveTo>
                    <a:pt x="0" y="146558"/>
                  </a:moveTo>
                  <a:cubicBezTo>
                    <a:pt x="0" y="65532"/>
                    <a:pt x="66599" y="0"/>
                    <a:pt x="148945" y="0"/>
                  </a:cubicBezTo>
                  <a:lnTo>
                    <a:pt x="24093478" y="0"/>
                  </a:lnTo>
                  <a:cubicBezTo>
                    <a:pt x="24175695" y="0"/>
                    <a:pt x="24242421" y="65532"/>
                    <a:pt x="24242421" y="146558"/>
                  </a:cubicBezTo>
                  <a:lnTo>
                    <a:pt x="24242421" y="13039852"/>
                  </a:lnTo>
                  <a:cubicBezTo>
                    <a:pt x="24242421" y="13120751"/>
                    <a:pt x="24175824" y="13186411"/>
                    <a:pt x="24093478" y="13186411"/>
                  </a:cubicBezTo>
                  <a:lnTo>
                    <a:pt x="148945" y="13186411"/>
                  </a:lnTo>
                  <a:cubicBezTo>
                    <a:pt x="66728" y="13186411"/>
                    <a:pt x="0" y="13120878"/>
                    <a:pt x="0" y="1303985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DDD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AutoShape 4"/>
          <p:cNvSpPr/>
          <p:nvPr/>
        </p:nvSpPr>
        <p:spPr>
          <a:xfrm>
            <a:off x="12440276" y="8859902"/>
            <a:ext cx="56746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693755"/>
            <a:ext cx="8675324" cy="4018938"/>
            <a:chOff x="0" y="0"/>
            <a:chExt cx="11567098" cy="5358585"/>
          </a:xfrm>
        </p:grpSpPr>
        <p:sp>
          <p:nvSpPr>
            <p:cNvPr id="6" name="TextBox 6"/>
            <p:cNvSpPr txBox="1"/>
            <p:nvPr/>
          </p:nvSpPr>
          <p:spPr>
            <a:xfrm>
              <a:off x="6282228" y="1199789"/>
              <a:ext cx="4888604" cy="300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7882" lvl="1" indent="-153941" algn="l">
                <a:lnSpc>
                  <a:spcPts val="1711"/>
                </a:lnSpc>
                <a:buFont typeface="Arial"/>
                <a:buChar char="•"/>
              </a:pPr>
              <a:r>
                <a:rPr lang="en-US" sz="14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Cleaning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8495" y="1512287"/>
              <a:ext cx="4888604" cy="632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9"/>
                </a:lnSpc>
              </a:pPr>
              <a:r>
                <a:rPr lang="en-US" sz="1207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Python, Pandas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68331" y="2254298"/>
              <a:ext cx="4888604" cy="300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7882" lvl="1" indent="-153941" algn="l">
                <a:lnSpc>
                  <a:spcPts val="1711"/>
                </a:lnSpc>
                <a:buFont typeface="Arial"/>
                <a:buChar char="•"/>
              </a:pPr>
              <a:r>
                <a:rPr lang="en-US" sz="14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Index Engine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29616" y="2627053"/>
              <a:ext cx="4888604" cy="632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9"/>
                </a:lnSpc>
              </a:pPr>
              <a:r>
                <a:rPr lang="en-US" sz="1207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Python – Weighted APIx Calculation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9724" y="1214311"/>
              <a:ext cx="4888604" cy="387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94240" lvl="1" indent="-197120" algn="l">
                <a:lnSpc>
                  <a:spcPts val="2191"/>
                </a:lnSpc>
                <a:buFont typeface="Arial"/>
                <a:buChar char="•"/>
              </a:pPr>
              <a:r>
                <a:rPr lang="en-US" sz="18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6587" y="1760089"/>
              <a:ext cx="4888604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49"/>
                </a:lnSpc>
              </a:pPr>
              <a:r>
                <a:rPr lang="en-US" sz="1624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React.js, HTML, CSS, JavaScript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0526" y="2394825"/>
              <a:ext cx="4888604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1061" lvl="1" indent="-175531" algn="l">
                <a:lnSpc>
                  <a:spcPts val="1951"/>
                </a:lnSpc>
                <a:buFont typeface="Arial"/>
                <a:buChar char="•"/>
              </a:pPr>
              <a:r>
                <a:rPr lang="en-US" sz="16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 &amp; API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7479" y="2915575"/>
              <a:ext cx="4888604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09"/>
                </a:lnSpc>
              </a:pPr>
              <a:r>
                <a:rPr lang="en-US" sz="1424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Python, FastAPI, REST 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0579" y="3675665"/>
              <a:ext cx="4888604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51061" lvl="1" indent="-175531" algn="l">
                <a:lnSpc>
                  <a:spcPts val="1951"/>
                </a:lnSpc>
                <a:buFont typeface="Arial"/>
                <a:buChar char="•"/>
              </a:pPr>
              <a:r>
                <a:rPr lang="en-US" sz="16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 Scraping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5512" y="4152947"/>
              <a:ext cx="4888604" cy="298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09"/>
                </a:lnSpc>
              </a:pPr>
              <a:r>
                <a:rPr lang="en-US" sz="1424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Python, Playwright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26" y="4728548"/>
              <a:ext cx="4888604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9472" lvl="1" indent="-164736" algn="l">
                <a:lnSpc>
                  <a:spcPts val="1831"/>
                </a:lnSpc>
                <a:buFont typeface="Arial"/>
                <a:buChar char="•"/>
              </a:pPr>
              <a:r>
                <a:rPr lang="en-US" sz="15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2228" y="3332730"/>
              <a:ext cx="4888604" cy="300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7882" lvl="1" indent="-153941" algn="l">
                <a:lnSpc>
                  <a:spcPts val="1711"/>
                </a:lnSpc>
                <a:buFont typeface="Arial"/>
                <a:buChar char="•"/>
              </a:pPr>
              <a:r>
                <a:rPr lang="en-US" sz="14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Automation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6275" y="3741818"/>
              <a:ext cx="4888604" cy="632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9"/>
                </a:lnSpc>
              </a:pPr>
              <a:r>
                <a:rPr lang="en-US" sz="1207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Scheduler + Automated Collection Pipeline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2228" y="4447495"/>
              <a:ext cx="4888604" cy="300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7882" lvl="1" indent="-153941" algn="l">
                <a:lnSpc>
                  <a:spcPts val="1711"/>
                </a:lnSpc>
                <a:buFont typeface="Arial"/>
                <a:buChar char="•"/>
              </a:pPr>
              <a:r>
                <a:rPr lang="en-US" sz="1426" b="1">
                  <a:solidFill>
                    <a:srgbClr val="13235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Security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6275" y="4856583"/>
              <a:ext cx="4888604" cy="502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9"/>
                </a:lnSpc>
              </a:pPr>
              <a:r>
                <a:rPr lang="en-US" sz="1207">
                  <a:solidFill>
                    <a:srgbClr val="1A1A2E"/>
                  </a:solidFill>
                  <a:latin typeface="Arial"/>
                  <a:ea typeface="Arial"/>
                  <a:cs typeface="Arial"/>
                  <a:sym typeface="Arial"/>
                </a:rPr>
                <a:t>Authentication, Rate Limiting, Input Validation, Secure Env Config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6928671" cy="672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4"/>
                </a:lnSpc>
              </a:pPr>
              <a:r>
                <a:rPr lang="en-US" sz="303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Stack :-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93718" y="28595"/>
              <a:ext cx="978236" cy="586941"/>
            </a:xfrm>
            <a:custGeom>
              <a:avLst/>
              <a:gdLst/>
              <a:ahLst/>
              <a:cxnLst/>
              <a:rect l="l" t="t" r="r" b="b"/>
              <a:pathLst>
                <a:path w="978236" h="586941">
                  <a:moveTo>
                    <a:pt x="0" y="0"/>
                  </a:moveTo>
                  <a:lnTo>
                    <a:pt x="978236" y="0"/>
                  </a:lnTo>
                  <a:lnTo>
                    <a:pt x="978236" y="586941"/>
                  </a:lnTo>
                  <a:lnTo>
                    <a:pt x="0" y="586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990050" y="3060341"/>
            <a:ext cx="56746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9197130" y="2371651"/>
            <a:ext cx="8546878" cy="7219186"/>
            <a:chOff x="0" y="0"/>
            <a:chExt cx="11395837" cy="9625582"/>
          </a:xfrm>
        </p:grpSpPr>
        <p:sp>
          <p:nvSpPr>
            <p:cNvPr id="25" name="AutoShape 25"/>
            <p:cNvSpPr/>
            <p:nvPr/>
          </p:nvSpPr>
          <p:spPr>
            <a:xfrm>
              <a:off x="9571928" y="3133915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3560064" cy="1097280"/>
              <a:chOff x="0" y="0"/>
              <a:chExt cx="3560064" cy="109728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Fare Collection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(Airlines / OTAs)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1821485"/>
              <a:ext cx="3560064" cy="1097280"/>
              <a:chOff x="0" y="0"/>
              <a:chExt cx="3560064" cy="109728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Raw Fare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Observations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0" y="3642970"/>
              <a:ext cx="3560064" cy="1097280"/>
              <a:chOff x="0" y="0"/>
              <a:chExt cx="3560064" cy="10972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Data Cleaning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&amp; Validation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5464454"/>
              <a:ext cx="3560064" cy="1097280"/>
              <a:chOff x="0" y="0"/>
              <a:chExt cx="3560064" cy="10972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Clean Fare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Data</a:t>
                </a:r>
              </a:p>
            </p:txBody>
          </p:sp>
        </p:grpSp>
        <p:sp>
          <p:nvSpPr>
            <p:cNvPr id="38" name="AutoShape 38"/>
            <p:cNvSpPr/>
            <p:nvPr/>
          </p:nvSpPr>
          <p:spPr>
            <a:xfrm>
              <a:off x="1764157" y="1081408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764157" y="2902893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764157" y="4724378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25884" y="7297662"/>
              <a:ext cx="2212458" cy="1097280"/>
              <a:chOff x="0" y="0"/>
              <a:chExt cx="2212458" cy="109728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212458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2212458" h="1097280">
                    <a:moveTo>
                      <a:pt x="0" y="0"/>
                    </a:moveTo>
                    <a:lnTo>
                      <a:pt x="2212458" y="0"/>
                    </a:lnTo>
                    <a:lnTo>
                      <a:pt x="2212458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6298" r="-967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2212458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69"/>
                  </a:lnSpc>
                </a:pPr>
                <a:r>
                  <a:rPr lang="en-US" sz="1974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Representative</a:t>
                </a:r>
              </a:p>
              <a:p>
                <a:pPr algn="ctr">
                  <a:lnSpc>
                    <a:spcPts val="2369"/>
                  </a:lnSpc>
                </a:pPr>
                <a:r>
                  <a:rPr lang="en-US" sz="1974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Base Fare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008100" y="7527261"/>
              <a:ext cx="1882079" cy="2098320"/>
              <a:chOff x="0" y="0"/>
              <a:chExt cx="1882079" cy="209832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882079" cy="2098320"/>
              </a:xfrm>
              <a:custGeom>
                <a:avLst/>
                <a:gdLst/>
                <a:ahLst/>
                <a:cxnLst/>
                <a:rect l="l" t="t" r="r" b="b"/>
                <a:pathLst>
                  <a:path w="1882079" h="2098320">
                    <a:moveTo>
                      <a:pt x="0" y="0"/>
                    </a:moveTo>
                    <a:lnTo>
                      <a:pt x="1882079" y="0"/>
                    </a:lnTo>
                    <a:lnTo>
                      <a:pt x="1882079" y="2098320"/>
                    </a:lnTo>
                    <a:lnTo>
                      <a:pt x="0" y="20983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30914" r="-18690" b="4770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1882079" cy="21459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369"/>
                  </a:lnSpc>
                </a:pPr>
                <a:r>
                  <a:rPr lang="en-US" sz="1974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Historical Context</a:t>
                </a:r>
              </a:p>
              <a:p>
                <a:pPr algn="ctr">
                  <a:lnSpc>
                    <a:spcPts val="2369"/>
                  </a:lnSpc>
                </a:pPr>
                <a:r>
                  <a:rPr lang="en-US" sz="1974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(Seasonality, DOW,</a:t>
                </a:r>
              </a:p>
              <a:p>
                <a:pPr algn="ctr">
                  <a:lnSpc>
                    <a:spcPts val="2369"/>
                  </a:lnSpc>
                </a:pPr>
                <a:r>
                  <a:rPr lang="en-US" sz="1974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Holidays)</a:t>
                </a:r>
              </a:p>
            </p:txBody>
          </p:sp>
        </p:grpSp>
        <p:sp>
          <p:nvSpPr>
            <p:cNvPr id="47" name="AutoShape 47"/>
            <p:cNvSpPr/>
            <p:nvPr/>
          </p:nvSpPr>
          <p:spPr>
            <a:xfrm flipH="1">
              <a:off x="1163390" y="6389672"/>
              <a:ext cx="407277" cy="1068330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2014048" y="6361436"/>
              <a:ext cx="435028" cy="1163602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4863974" y="7685385"/>
              <a:ext cx="3560064" cy="1097280"/>
              <a:chOff x="0" y="0"/>
              <a:chExt cx="3560064" cy="109728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Expected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Normal Fare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804730" y="4931686"/>
              <a:ext cx="3560064" cy="1097280"/>
              <a:chOff x="0" y="0"/>
              <a:chExt cx="3560064" cy="109728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APIx (t)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Calculation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772981" y="2625231"/>
              <a:ext cx="3560064" cy="1033610"/>
              <a:chOff x="0" y="0"/>
              <a:chExt cx="3560064" cy="103361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3560064" cy="103361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3361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33610"/>
                    </a:lnTo>
                    <a:lnTo>
                      <a:pt x="0" y="10336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032" b="-2019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47625"/>
                <a:ext cx="3560064" cy="108123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Route-Level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APIx</a:t>
                </a:r>
              </a:p>
            </p:txBody>
          </p:sp>
        </p:grpSp>
        <p:sp>
          <p:nvSpPr>
            <p:cNvPr id="58" name="AutoShape 58"/>
            <p:cNvSpPr/>
            <p:nvPr/>
          </p:nvSpPr>
          <p:spPr>
            <a:xfrm flipV="1">
              <a:off x="6628131" y="6361702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AutoShape 59"/>
            <p:cNvSpPr/>
            <p:nvPr/>
          </p:nvSpPr>
          <p:spPr>
            <a:xfrm flipV="1">
              <a:off x="6591107" y="4139755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4863974" y="346964"/>
              <a:ext cx="3560064" cy="1097280"/>
              <a:chOff x="0" y="0"/>
              <a:chExt cx="3560064" cy="109728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National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APIx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7807771" y="0"/>
              <a:ext cx="3560064" cy="1097280"/>
              <a:chOff x="0" y="0"/>
              <a:chExt cx="3560064" cy="109728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Forecasting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Model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835773" y="2036369"/>
              <a:ext cx="3560064" cy="1097280"/>
              <a:chOff x="0" y="0"/>
              <a:chExt cx="3560064" cy="109728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Tomorrow's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APIx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7835773" y="4139489"/>
              <a:ext cx="3560064" cy="1097280"/>
              <a:chOff x="0" y="0"/>
              <a:chExt cx="3560064" cy="109728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3560064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3560064" h="1097280">
                    <a:moveTo>
                      <a:pt x="0" y="0"/>
                    </a:moveTo>
                    <a:lnTo>
                      <a:pt x="3560064" y="0"/>
                    </a:lnTo>
                    <a:lnTo>
                      <a:pt x="356006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3218" b="-13218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47625"/>
                <a:ext cx="3560064" cy="114490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Dashboard</a:t>
                </a:r>
              </a:p>
              <a:p>
                <a:pPr algn="ctr">
                  <a:lnSpc>
                    <a:spcPts val="2639"/>
                  </a:lnSpc>
                </a:pPr>
                <a:r>
                  <a:rPr lang="en-US" sz="2199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Output</a:t>
                </a:r>
              </a:p>
            </p:txBody>
          </p:sp>
        </p:grpSp>
        <p:sp>
          <p:nvSpPr>
            <p:cNvPr id="72" name="AutoShape 72"/>
            <p:cNvSpPr/>
            <p:nvPr/>
          </p:nvSpPr>
          <p:spPr>
            <a:xfrm>
              <a:off x="9511535" y="1097546"/>
              <a:ext cx="31750" cy="755949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AutoShape 73"/>
            <p:cNvSpPr/>
            <p:nvPr/>
          </p:nvSpPr>
          <p:spPr>
            <a:xfrm flipV="1">
              <a:off x="6666227" y="1558755"/>
              <a:ext cx="31750" cy="955227"/>
            </a:xfrm>
            <a:prstGeom prst="line">
              <a:avLst/>
            </a:prstGeom>
            <a:ln w="12700" cap="rnd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77436" y="9449"/>
            <a:ext cx="17898261" cy="1684306"/>
            <a:chOff x="0" y="0"/>
            <a:chExt cx="23864348" cy="2245741"/>
          </a:xfrm>
        </p:grpSpPr>
        <p:grpSp>
          <p:nvGrpSpPr>
            <p:cNvPr id="75" name="Group 75"/>
            <p:cNvGrpSpPr/>
            <p:nvPr/>
          </p:nvGrpSpPr>
          <p:grpSpPr>
            <a:xfrm>
              <a:off x="0" y="280238"/>
              <a:ext cx="2554516" cy="1665468"/>
              <a:chOff x="0" y="0"/>
              <a:chExt cx="2554516" cy="1665468"/>
            </a:xfrm>
          </p:grpSpPr>
          <p:sp>
            <p:nvSpPr>
              <p:cNvPr id="76" name="Freeform 76" descr="Your startup LOGO"/>
              <p:cNvSpPr/>
              <p:nvPr/>
            </p:nvSpPr>
            <p:spPr>
              <a:xfrm>
                <a:off x="0" y="0"/>
                <a:ext cx="2554478" cy="1665481"/>
              </a:xfrm>
              <a:custGeom>
                <a:avLst/>
                <a:gdLst/>
                <a:ahLst/>
                <a:cxnLst/>
                <a:rect l="l" t="t" r="r" b="b"/>
                <a:pathLst>
                  <a:path w="2554478" h="1665481">
                    <a:moveTo>
                      <a:pt x="0" y="832740"/>
                    </a:moveTo>
                    <a:cubicBezTo>
                      <a:pt x="0" y="372873"/>
                      <a:pt x="571881" y="0"/>
                      <a:pt x="1277239" y="0"/>
                    </a:cubicBezTo>
                    <a:cubicBezTo>
                      <a:pt x="1982597" y="0"/>
                      <a:pt x="2554478" y="372873"/>
                      <a:pt x="2554478" y="832740"/>
                    </a:cubicBezTo>
                    <a:cubicBezTo>
                      <a:pt x="2554478" y="1292608"/>
                      <a:pt x="1982597" y="1665481"/>
                      <a:pt x="1277239" y="1665481"/>
                    </a:cubicBezTo>
                    <a:cubicBezTo>
                      <a:pt x="571881" y="1665481"/>
                      <a:pt x="0" y="1292608"/>
                      <a:pt x="0" y="8327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8064A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0" y="-57150"/>
                <a:ext cx="2554516" cy="1722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kasukaabe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3021222" y="598538"/>
              <a:ext cx="16197529" cy="951725"/>
              <a:chOff x="0" y="0"/>
              <a:chExt cx="16197529" cy="9517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16197534" cy="951720"/>
              </a:xfrm>
              <a:custGeom>
                <a:avLst/>
                <a:gdLst/>
                <a:ahLst/>
                <a:cxnLst/>
                <a:rect l="l" t="t" r="r" b="b"/>
                <a:pathLst>
                  <a:path w="16197534" h="951720">
                    <a:moveTo>
                      <a:pt x="0" y="0"/>
                    </a:moveTo>
                    <a:lnTo>
                      <a:pt x="16197534" y="0"/>
                    </a:lnTo>
                    <a:lnTo>
                      <a:pt x="16197534" y="951720"/>
                    </a:lnTo>
                    <a:lnTo>
                      <a:pt x="0" y="951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81619" b="-281620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0" y="0"/>
                <a:ext cx="16197529" cy="9517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5404"/>
                  </a:lnSpc>
                </a:pPr>
                <a:r>
                  <a:rPr lang="en-US" sz="4503" b="1">
                    <a:solidFill>
                      <a:srgbClr val="0E2A54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3. TECHNICAL APPROACH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19446145" y="0"/>
              <a:ext cx="4418203" cy="2245741"/>
              <a:chOff x="0" y="0"/>
              <a:chExt cx="4418203" cy="2245741"/>
            </a:xfrm>
          </p:grpSpPr>
          <p:sp>
            <p:nvSpPr>
              <p:cNvPr id="82" name="Freeform 82" descr="https://www.sih.gov.in/img1/SIH-Logo.png"/>
              <p:cNvSpPr/>
              <p:nvPr/>
            </p:nvSpPr>
            <p:spPr>
              <a:xfrm>
                <a:off x="0" y="0"/>
                <a:ext cx="4418203" cy="2245741"/>
              </a:xfrm>
              <a:custGeom>
                <a:avLst/>
                <a:gdLst/>
                <a:ahLst/>
                <a:cxnLst/>
                <a:rect l="l" t="t" r="r" b="b"/>
                <a:pathLst>
                  <a:path w="4418203" h="2245741">
                    <a:moveTo>
                      <a:pt x="0" y="0"/>
                    </a:moveTo>
                    <a:lnTo>
                      <a:pt x="4418203" y="0"/>
                    </a:lnTo>
                    <a:lnTo>
                      <a:pt x="4418203" y="2245741"/>
                    </a:lnTo>
                    <a:lnTo>
                      <a:pt x="0" y="224574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r="-70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9126567" y="1693755"/>
            <a:ext cx="5819423" cy="461652"/>
            <a:chOff x="0" y="0"/>
            <a:chExt cx="7759231" cy="615536"/>
          </a:xfrm>
        </p:grpSpPr>
        <p:sp>
          <p:nvSpPr>
            <p:cNvPr id="84" name="TextBox 84"/>
            <p:cNvSpPr txBox="1"/>
            <p:nvPr/>
          </p:nvSpPr>
          <p:spPr>
            <a:xfrm>
              <a:off x="830560" y="-57150"/>
              <a:ext cx="6928671" cy="672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4"/>
                </a:lnSpc>
              </a:pPr>
              <a:r>
                <a:rPr lang="en-US" sz="303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Methodology / Workflow :-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0" y="14297"/>
              <a:ext cx="978236" cy="586941"/>
            </a:xfrm>
            <a:custGeom>
              <a:avLst/>
              <a:gdLst/>
              <a:ahLst/>
              <a:cxnLst/>
              <a:rect l="l" t="t" r="r" b="b"/>
              <a:pathLst>
                <a:path w="978236" h="586941">
                  <a:moveTo>
                    <a:pt x="0" y="0"/>
                  </a:moveTo>
                  <a:lnTo>
                    <a:pt x="978236" y="0"/>
                  </a:lnTo>
                  <a:lnTo>
                    <a:pt x="978236" y="586942"/>
                  </a:lnTo>
                  <a:lnTo>
                    <a:pt x="0" y="58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54425" y="8173991"/>
            <a:ext cx="7554884" cy="1568091"/>
            <a:chOff x="0" y="0"/>
            <a:chExt cx="1989764" cy="412995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989764" cy="412995"/>
            </a:xfrm>
            <a:custGeom>
              <a:avLst/>
              <a:gdLst/>
              <a:ahLst/>
              <a:cxnLst/>
              <a:rect l="l" t="t" r="r" b="b"/>
              <a:pathLst>
                <a:path w="1989764" h="412995">
                  <a:moveTo>
                    <a:pt x="0" y="0"/>
                  </a:moveTo>
                  <a:lnTo>
                    <a:pt x="1989764" y="0"/>
                  </a:lnTo>
                  <a:lnTo>
                    <a:pt x="1989764" y="412995"/>
                  </a:lnTo>
                  <a:lnTo>
                    <a:pt x="0" y="412995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76200"/>
              <a:ext cx="1989764" cy="489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APIx = (Actual Representative Fare / Expected Normal Fare) × 100</a:t>
              </a:r>
            </a:p>
          </p:txBody>
        </p:sp>
      </p:grpSp>
      <p:sp>
        <p:nvSpPr>
          <p:cNvPr id="89" name="Freeform 89"/>
          <p:cNvSpPr/>
          <p:nvPr/>
        </p:nvSpPr>
        <p:spPr>
          <a:xfrm>
            <a:off x="371986" y="8173991"/>
            <a:ext cx="7837322" cy="1628824"/>
          </a:xfrm>
          <a:custGeom>
            <a:avLst/>
            <a:gdLst/>
            <a:ahLst/>
            <a:cxnLst/>
            <a:rect l="l" t="t" r="r" b="b"/>
            <a:pathLst>
              <a:path w="7837322" h="1628824">
                <a:moveTo>
                  <a:pt x="0" y="0"/>
                </a:moveTo>
                <a:lnTo>
                  <a:pt x="7837323" y="0"/>
                </a:lnTo>
                <a:lnTo>
                  <a:pt x="7837323" y="1628825"/>
                </a:lnTo>
                <a:lnTo>
                  <a:pt x="0" y="1628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17" r="-52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0" name="Freeform 90"/>
          <p:cNvSpPr/>
          <p:nvPr/>
        </p:nvSpPr>
        <p:spPr>
          <a:xfrm>
            <a:off x="808749" y="6130480"/>
            <a:ext cx="7057826" cy="2200914"/>
          </a:xfrm>
          <a:custGeom>
            <a:avLst/>
            <a:gdLst/>
            <a:ahLst/>
            <a:cxnLst/>
            <a:rect l="l" t="t" r="r" b="b"/>
            <a:pathLst>
              <a:path w="7057826" h="2200914">
                <a:moveTo>
                  <a:pt x="0" y="0"/>
                </a:moveTo>
                <a:lnTo>
                  <a:pt x="7057826" y="0"/>
                </a:lnTo>
                <a:lnTo>
                  <a:pt x="7057826" y="2200914"/>
                </a:lnTo>
                <a:lnTo>
                  <a:pt x="0" y="22009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75" t="-16711" r="-995" b="-226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1" name="TextBox 91"/>
          <p:cNvSpPr txBox="1"/>
          <p:nvPr/>
        </p:nvSpPr>
        <p:spPr>
          <a:xfrm>
            <a:off x="881814" y="5503143"/>
            <a:ext cx="3666453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9"/>
              </a:lnSpc>
            </a:pPr>
            <a:r>
              <a:rPr lang="en-US" sz="1307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85365" y="85649"/>
            <a:ext cx="11795760" cy="1097280"/>
            <a:chOff x="0" y="0"/>
            <a:chExt cx="1572768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27680" cy="1463040"/>
            </a:xfrm>
            <a:custGeom>
              <a:avLst/>
              <a:gdLst/>
              <a:ahLst/>
              <a:cxnLst/>
              <a:rect l="l" t="t" r="r" b="b"/>
              <a:pathLst>
                <a:path w="15727680" h="1463040">
                  <a:moveTo>
                    <a:pt x="0" y="0"/>
                  </a:moveTo>
                  <a:lnTo>
                    <a:pt x="15727680" y="0"/>
                  </a:lnTo>
                  <a:lnTo>
                    <a:pt x="15727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9464" b="-15946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572768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F2D5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4.  FEASIBILITY AND VIABILITY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7474" y="1769955"/>
            <a:ext cx="5603110" cy="7488345"/>
            <a:chOff x="0" y="0"/>
            <a:chExt cx="7470813" cy="99844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70902" cy="9984499"/>
            </a:xfrm>
            <a:custGeom>
              <a:avLst/>
              <a:gdLst/>
              <a:ahLst/>
              <a:cxnLst/>
              <a:rect l="l" t="t" r="r" b="b"/>
              <a:pathLst>
                <a:path w="7470902" h="9984499">
                  <a:moveTo>
                    <a:pt x="0" y="167178"/>
                  </a:moveTo>
                  <a:cubicBezTo>
                    <a:pt x="0" y="74854"/>
                    <a:pt x="66929" y="0"/>
                    <a:pt x="149479" y="0"/>
                  </a:cubicBezTo>
                  <a:lnTo>
                    <a:pt x="7321423" y="0"/>
                  </a:lnTo>
                  <a:cubicBezTo>
                    <a:pt x="7403973" y="0"/>
                    <a:pt x="7470902" y="74854"/>
                    <a:pt x="7470902" y="167178"/>
                  </a:cubicBezTo>
                  <a:lnTo>
                    <a:pt x="7470902" y="9817326"/>
                  </a:lnTo>
                  <a:cubicBezTo>
                    <a:pt x="7470902" y="9909649"/>
                    <a:pt x="7403973" y="9984499"/>
                    <a:pt x="7321423" y="9984499"/>
                  </a:cubicBezTo>
                  <a:lnTo>
                    <a:pt x="149479" y="9984499"/>
                  </a:lnTo>
                  <a:cubicBezTo>
                    <a:pt x="66929" y="9984499"/>
                    <a:pt x="0" y="9909649"/>
                    <a:pt x="0" y="9817326"/>
                  </a:cubicBezTo>
                  <a:close/>
                </a:path>
              </a:pathLst>
            </a:custGeom>
            <a:solidFill>
              <a:srgbClr val="F7F9F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275882" y="1793662"/>
            <a:ext cx="3977640" cy="754380"/>
            <a:chOff x="0" y="0"/>
            <a:chExt cx="5303520" cy="1005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530352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586142"/>
            <a:ext cx="4663440" cy="661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 use Kagalle dataset to genarete a more impactful dataset.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Scalability</a:t>
            </a:r>
            <a:r>
              <a:rPr lang="en-US" sz="27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— </a:t>
            </a:r>
            <a:r>
              <a:rPr lang="en-US" sz="2700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 small, then scale routes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Collection 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Structured data pipeline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 time fare monitoring </a:t>
            </a:r>
            <a:r>
              <a:rPr lang="en-US" sz="27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timely booking insights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333333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>
              <a:solidFill>
                <a:srgbClr val="333333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6253522" y="1808057"/>
            <a:ext cx="5603110" cy="7388435"/>
            <a:chOff x="0" y="0"/>
            <a:chExt cx="7470813" cy="98512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70902" cy="9851286"/>
            </a:xfrm>
            <a:custGeom>
              <a:avLst/>
              <a:gdLst/>
              <a:ahLst/>
              <a:cxnLst/>
              <a:rect l="l" t="t" r="r" b="b"/>
              <a:pathLst>
                <a:path w="7470902" h="9851286">
                  <a:moveTo>
                    <a:pt x="0" y="164947"/>
                  </a:moveTo>
                  <a:cubicBezTo>
                    <a:pt x="0" y="73855"/>
                    <a:pt x="66929" y="0"/>
                    <a:pt x="149479" y="0"/>
                  </a:cubicBezTo>
                  <a:lnTo>
                    <a:pt x="7321423" y="0"/>
                  </a:lnTo>
                  <a:cubicBezTo>
                    <a:pt x="7403973" y="0"/>
                    <a:pt x="7470902" y="73855"/>
                    <a:pt x="7470902" y="164947"/>
                  </a:cubicBezTo>
                  <a:lnTo>
                    <a:pt x="7470902" y="9686341"/>
                  </a:lnTo>
                  <a:cubicBezTo>
                    <a:pt x="7470902" y="9777434"/>
                    <a:pt x="7403973" y="9851286"/>
                    <a:pt x="7321423" y="9851286"/>
                  </a:cubicBezTo>
                  <a:lnTo>
                    <a:pt x="149479" y="9851286"/>
                  </a:lnTo>
                  <a:cubicBezTo>
                    <a:pt x="66929" y="9851286"/>
                    <a:pt x="0" y="9777434"/>
                    <a:pt x="0" y="9686341"/>
                  </a:cubicBezTo>
                  <a:close/>
                </a:path>
              </a:pathLst>
            </a:custGeom>
            <a:solidFill>
              <a:srgbClr val="F7F9F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99572" y="1793662"/>
            <a:ext cx="3977640" cy="754380"/>
            <a:chOff x="0" y="0"/>
            <a:chExt cx="530352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530352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728402" y="2576617"/>
            <a:ext cx="5059797" cy="593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709" lvl="1" indent="-250354" algn="l">
              <a:lnSpc>
                <a:spcPts val="3320"/>
              </a:lnSpc>
              <a:buFont typeface="Arial"/>
              <a:buChar char="•"/>
            </a:pPr>
            <a:r>
              <a:rPr lang="en-US" sz="2766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Changes in fares </a:t>
            </a:r>
            <a:r>
              <a:rPr lang="en-US" sz="276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– demand , cancellations , routes , festival and booking time.</a:t>
            </a:r>
          </a:p>
          <a:p>
            <a:pPr marL="500709" lvl="1" indent="-250354" algn="l">
              <a:lnSpc>
                <a:spcPts val="3320"/>
              </a:lnSpc>
              <a:buFont typeface="Arial"/>
              <a:buChar char="•"/>
            </a:pPr>
            <a:r>
              <a:rPr lang="en-US" sz="2766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inconsistency </a:t>
            </a:r>
            <a:r>
              <a:rPr lang="en-US" sz="276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– different platform show different fares</a:t>
            </a:r>
          </a:p>
          <a:p>
            <a:pPr marL="500709" lvl="1" indent="-250354" algn="l">
              <a:lnSpc>
                <a:spcPts val="3320"/>
              </a:lnSpc>
              <a:buFont typeface="Arial"/>
              <a:buChar char="•"/>
            </a:pPr>
            <a:r>
              <a:rPr lang="en-US" sz="2766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Anti-scraping defenses</a:t>
            </a:r>
            <a:r>
              <a:rPr lang="en-US" sz="276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(CAPTCHAs, IP blocks, dynamic pages)</a:t>
            </a:r>
          </a:p>
          <a:p>
            <a:pPr algn="l">
              <a:lnSpc>
                <a:spcPts val="3320"/>
              </a:lnSpc>
            </a:pPr>
            <a:endParaRPr lang="en-US" sz="2766">
              <a:solidFill>
                <a:srgbClr val="333333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709" lvl="1" indent="-250354" algn="l">
              <a:lnSpc>
                <a:spcPts val="3320"/>
              </a:lnSpc>
              <a:buFont typeface="Arial"/>
              <a:buChar char="•"/>
            </a:pPr>
            <a:r>
              <a:rPr lang="en-US" sz="2766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Frequent scraping risks rate</a:t>
            </a:r>
            <a:r>
              <a:rPr lang="en-US" sz="276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-limits or bans</a:t>
            </a:r>
          </a:p>
          <a:p>
            <a:pPr algn="l">
              <a:lnSpc>
                <a:spcPts val="3320"/>
              </a:lnSpc>
            </a:pPr>
            <a:endParaRPr lang="en-US" sz="2766">
              <a:solidFill>
                <a:srgbClr val="333333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709" lvl="1" indent="-250354" algn="l">
              <a:lnSpc>
                <a:spcPts val="3320"/>
              </a:lnSpc>
              <a:buFont typeface="Arial"/>
              <a:buChar char="•"/>
            </a:pPr>
            <a:r>
              <a:rPr lang="en-US" sz="2766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Limited historical data </a:t>
            </a:r>
            <a:r>
              <a:rPr lang="en-US" sz="2766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for new routes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79570" y="1793662"/>
            <a:ext cx="5603110" cy="7464638"/>
            <a:chOff x="0" y="0"/>
            <a:chExt cx="7470813" cy="99528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470902" cy="9952889"/>
            </a:xfrm>
            <a:custGeom>
              <a:avLst/>
              <a:gdLst/>
              <a:ahLst/>
              <a:cxnLst/>
              <a:rect l="l" t="t" r="r" b="b"/>
              <a:pathLst>
                <a:path w="7470902" h="9952889">
                  <a:moveTo>
                    <a:pt x="0" y="166648"/>
                  </a:moveTo>
                  <a:cubicBezTo>
                    <a:pt x="0" y="74617"/>
                    <a:pt x="66929" y="0"/>
                    <a:pt x="149479" y="0"/>
                  </a:cubicBezTo>
                  <a:lnTo>
                    <a:pt x="7321423" y="0"/>
                  </a:lnTo>
                  <a:cubicBezTo>
                    <a:pt x="7403973" y="0"/>
                    <a:pt x="7470902" y="74617"/>
                    <a:pt x="7470902" y="166648"/>
                  </a:cubicBezTo>
                  <a:lnTo>
                    <a:pt x="7470902" y="9786245"/>
                  </a:lnTo>
                  <a:cubicBezTo>
                    <a:pt x="7470902" y="9878276"/>
                    <a:pt x="7403973" y="9952889"/>
                    <a:pt x="7321423" y="9952889"/>
                  </a:cubicBezTo>
                  <a:lnTo>
                    <a:pt x="149479" y="9952889"/>
                  </a:lnTo>
                  <a:cubicBezTo>
                    <a:pt x="66929" y="9952889"/>
                    <a:pt x="0" y="9878276"/>
                    <a:pt x="0" y="9786245"/>
                  </a:cubicBezTo>
                  <a:close/>
                </a:path>
              </a:pathLst>
            </a:custGeom>
            <a:solidFill>
              <a:srgbClr val="F7F9F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98845" y="1793662"/>
            <a:ext cx="3977640" cy="754380"/>
            <a:chOff x="0" y="0"/>
            <a:chExt cx="5303520" cy="10058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739" b="-5273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530352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Strategies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595860" y="2586142"/>
            <a:ext cx="4485972" cy="636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038" lvl="1" indent="-235019" algn="l">
              <a:lnSpc>
                <a:spcPts val="3116"/>
              </a:lnSpc>
              <a:buFont typeface="Arial"/>
              <a:buChar char="•"/>
            </a:pPr>
            <a:r>
              <a:rPr lang="en-US" sz="2597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Distributed data sources to </a:t>
            </a:r>
            <a:r>
              <a:rPr lang="en-US" sz="2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ensure continuous availability</a:t>
            </a:r>
          </a:p>
          <a:p>
            <a:pPr algn="l">
              <a:lnSpc>
                <a:spcPts val="3116"/>
              </a:lnSpc>
            </a:pPr>
            <a:endParaRPr lang="en-US" sz="2597">
              <a:solidFill>
                <a:srgbClr val="333333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70038" lvl="1" indent="-235019" algn="l">
              <a:lnSpc>
                <a:spcPts val="3116"/>
              </a:lnSpc>
              <a:buFont typeface="Arial"/>
              <a:buChar char="•"/>
            </a:pPr>
            <a:r>
              <a:rPr lang="en-US" sz="2597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Outlier detection</a:t>
            </a:r>
            <a:r>
              <a:rPr lang="en-US" sz="2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 &amp; </a:t>
            </a:r>
            <a:r>
              <a:rPr lang="en-US" sz="2597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smoothing before indexing</a:t>
            </a:r>
          </a:p>
          <a:p>
            <a:pPr algn="l">
              <a:lnSpc>
                <a:spcPts val="3116"/>
              </a:lnSpc>
            </a:pPr>
            <a:endParaRPr lang="en-US" sz="2597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70038" lvl="1" indent="-235019" algn="l">
              <a:lnSpc>
                <a:spcPts val="3116"/>
              </a:lnSpc>
              <a:buFont typeface="Arial"/>
              <a:buChar char="•"/>
            </a:pPr>
            <a:r>
              <a:rPr lang="en-US" sz="2597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 collect our data on daily basis to create our own dataset.</a:t>
            </a:r>
          </a:p>
          <a:p>
            <a:pPr algn="l">
              <a:lnSpc>
                <a:spcPts val="3116"/>
              </a:lnSpc>
            </a:pPr>
            <a:endParaRPr lang="en-US" sz="2597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70038" lvl="1" indent="-235019" algn="l">
              <a:lnSpc>
                <a:spcPts val="3116"/>
              </a:lnSpc>
              <a:buFont typeface="Arial"/>
              <a:buChar char="•"/>
            </a:pPr>
            <a:r>
              <a:rPr lang="en-US" sz="2597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Collection at different times of a day</a:t>
            </a:r>
          </a:p>
          <a:p>
            <a:pPr algn="l">
              <a:lnSpc>
                <a:spcPts val="3116"/>
              </a:lnSpc>
            </a:pPr>
            <a:endParaRPr lang="en-US" sz="2597" b="1">
              <a:solidFill>
                <a:srgbClr val="333333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470038" lvl="1" indent="-235019" algn="l">
              <a:lnSpc>
                <a:spcPts val="3116"/>
              </a:lnSpc>
              <a:buFont typeface="Arial"/>
              <a:buChar char="•"/>
            </a:pPr>
            <a:r>
              <a:rPr lang="en-US" sz="2597" b="1">
                <a:solidFill>
                  <a:srgbClr val="3333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 source validation - </a:t>
            </a:r>
            <a:r>
              <a:rPr lang="en-US" sz="2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fares across platforms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762045" y="9449"/>
            <a:ext cx="3313652" cy="1684306"/>
            <a:chOff x="0" y="0"/>
            <a:chExt cx="4418203" cy="2245741"/>
          </a:xfrm>
        </p:grpSpPr>
        <p:sp>
          <p:nvSpPr>
            <p:cNvPr id="24" name="Freeform 2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7436" y="219627"/>
            <a:ext cx="1915887" cy="1249101"/>
            <a:chOff x="0" y="0"/>
            <a:chExt cx="2554516" cy="1665468"/>
          </a:xfrm>
        </p:grpSpPr>
        <p:sp>
          <p:nvSpPr>
            <p:cNvPr id="26" name="Freeform 2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kasukaabe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68628" y="438912"/>
            <a:ext cx="1165860" cy="274320"/>
            <a:chOff x="0" y="0"/>
            <a:chExt cx="1554480" cy="365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4480" cy="365760"/>
            </a:xfrm>
            <a:custGeom>
              <a:avLst/>
              <a:gdLst/>
              <a:ahLst/>
              <a:cxnLst/>
              <a:rect l="l" t="t" r="r" b="b"/>
              <a:pathLst>
                <a:path w="1554480" h="365760">
                  <a:moveTo>
                    <a:pt x="0" y="0"/>
                  </a:moveTo>
                  <a:lnTo>
                    <a:pt x="1554480" y="0"/>
                  </a:lnTo>
                  <a:lnTo>
                    <a:pt x="1554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811" b="-3281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55448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350"/>
                </a:lnSpc>
              </a:pPr>
              <a:r>
                <a:rPr lang="en-US" sz="1125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30033" y="-259167"/>
            <a:ext cx="14637458" cy="1785856"/>
            <a:chOff x="0" y="0"/>
            <a:chExt cx="18470880" cy="22535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70880" cy="2253557"/>
            </a:xfrm>
            <a:custGeom>
              <a:avLst/>
              <a:gdLst/>
              <a:ahLst/>
              <a:cxnLst/>
              <a:rect l="l" t="t" r="r" b="b"/>
              <a:pathLst>
                <a:path w="18470880" h="2253557">
                  <a:moveTo>
                    <a:pt x="0" y="0"/>
                  </a:moveTo>
                  <a:lnTo>
                    <a:pt x="18470880" y="0"/>
                  </a:lnTo>
                  <a:lnTo>
                    <a:pt x="18470880" y="2253557"/>
                  </a:lnTo>
                  <a:lnTo>
                    <a:pt x="0" y="2253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388" b="-8202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470880" cy="22726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0F2D5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 IMPACT &amp; BENEFITS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436" y="219627"/>
            <a:ext cx="1915887" cy="1249099"/>
            <a:chOff x="0" y="0"/>
            <a:chExt cx="2554516" cy="1665465"/>
          </a:xfrm>
        </p:grpSpPr>
        <p:sp>
          <p:nvSpPr>
            <p:cNvPr id="9" name="Freeform 9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7436" y="219625"/>
            <a:ext cx="1915887" cy="1249101"/>
            <a:chOff x="0" y="0"/>
            <a:chExt cx="2554516" cy="1665468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kasukaabe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880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-311704" y="1498114"/>
            <a:ext cx="563582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WHO BENEFITS?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259" y="2202964"/>
            <a:ext cx="17808045" cy="98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Government &amp; Statistical Agencies, Economists &amp; Researchers, Transport Analysts, Travelers.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259" y="3555519"/>
            <a:ext cx="11125644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152" lvl="1" indent="-278076" algn="l">
              <a:lnSpc>
                <a:spcPts val="3091"/>
              </a:lnSpc>
              <a:buAutoNum type="arabicPeriod"/>
            </a:pPr>
            <a:r>
              <a:rPr lang="en-US" sz="2575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BETTER  INFLATION MEASUREMENT: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frequency view of airfare measures.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Compliments existing CPI airfare data.</a:t>
            </a: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73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605806" y="3516947"/>
            <a:ext cx="9176038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152" lvl="1" indent="-278076" algn="l">
              <a:lnSpc>
                <a:spcPts val="3091"/>
              </a:lnSpc>
              <a:buAutoNum type="arabicPeriod"/>
            </a:pPr>
            <a:r>
              <a:rPr lang="en-US" sz="2575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SMARTER POLICY DECISIONS: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 which routes are driving airfare changes with the help of the DGCA and the dataset.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better statistical and economic analysis</a:t>
            </a: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73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72258" y="5245735"/>
            <a:ext cx="7169523" cy="398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3.</a:t>
            </a:r>
            <a:r>
              <a:rPr lang="en-US" sz="2575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GRANULAR AIRFARE INTELLIGENCE: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Compares fares across routes, airlines and booking windows.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how fares change as travel approaches.</a:t>
            </a: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73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605806" y="5440997"/>
            <a:ext cx="11125644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4. </a:t>
            </a:r>
            <a:r>
              <a:rPr lang="en-US" sz="2575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Reliable &amp; Transparent Data: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duplicates, missing values and unusual observations.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data-quality and coverage indicators.</a:t>
            </a: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73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72258" y="7479819"/>
            <a:ext cx="7524873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5.</a:t>
            </a:r>
            <a:r>
              <a:rPr lang="en-US" sz="2575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ECONOMIC &amp; SOCIAL VALUE: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economists and researchers understand airfare movements.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transport and inflation-related analysis.</a:t>
            </a: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73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605806" y="7477125"/>
            <a:ext cx="11125644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en-US" sz="2575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SCALABLE DIGITAL INFRASTRUCTURE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more routes and permitted data sources to be added.</a:t>
            </a:r>
          </a:p>
          <a:p>
            <a:pPr marL="556152" lvl="1" indent="-278076" algn="l">
              <a:lnSpc>
                <a:spcPts val="3091"/>
              </a:lnSpc>
              <a:buFont typeface="Arial"/>
              <a:buChar char="•"/>
            </a:pPr>
            <a:r>
              <a:rPr lang="en-US" sz="2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an API for use by downstream statistical systems.</a:t>
            </a: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091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73"/>
              </a:lnSpc>
            </a:pPr>
            <a:endParaRPr lang="en-US" sz="2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38581" y="1572258"/>
            <a:ext cx="733677" cy="440206"/>
          </a:xfrm>
          <a:custGeom>
            <a:avLst/>
            <a:gdLst/>
            <a:ahLst/>
            <a:cxnLst/>
            <a:rect l="l" t="t" r="r" b="b"/>
            <a:pathLst>
              <a:path w="733677" h="440206">
                <a:moveTo>
                  <a:pt x="0" y="0"/>
                </a:moveTo>
                <a:lnTo>
                  <a:pt x="733677" y="0"/>
                </a:lnTo>
                <a:lnTo>
                  <a:pt x="733677" y="440206"/>
                </a:lnTo>
                <a:lnTo>
                  <a:pt x="0" y="440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4762045" y="9449"/>
            <a:ext cx="3313652" cy="1684306"/>
            <a:chOff x="0" y="0"/>
            <a:chExt cx="4418203" cy="2245741"/>
          </a:xfrm>
        </p:grpSpPr>
        <p:sp>
          <p:nvSpPr>
            <p:cNvPr id="25" name="Freeform 25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3353" y="219627"/>
            <a:ext cx="12148147" cy="713794"/>
            <a:chOff x="0" y="0"/>
            <a:chExt cx="16197529" cy="951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97580" cy="951738"/>
            </a:xfrm>
            <a:custGeom>
              <a:avLst/>
              <a:gdLst/>
              <a:ahLst/>
              <a:cxnLst/>
              <a:rect l="l" t="t" r="r" b="b"/>
              <a:pathLst>
                <a:path w="16197580" h="951738">
                  <a:moveTo>
                    <a:pt x="0" y="0"/>
                  </a:moveTo>
                  <a:lnTo>
                    <a:pt x="16197580" y="0"/>
                  </a:lnTo>
                  <a:lnTo>
                    <a:pt x="16197580" y="951738"/>
                  </a:lnTo>
                  <a:lnTo>
                    <a:pt x="0" y="9517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383" b="-28138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443353" y="382958"/>
            <a:ext cx="12148147" cy="713794"/>
            <a:chOff x="0" y="0"/>
            <a:chExt cx="16197529" cy="9517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197529" cy="951725"/>
            </a:xfrm>
            <a:custGeom>
              <a:avLst/>
              <a:gdLst/>
              <a:ahLst/>
              <a:cxnLst/>
              <a:rect l="l" t="t" r="r" b="b"/>
              <a:pathLst>
                <a:path w="16197529" h="951725">
                  <a:moveTo>
                    <a:pt x="0" y="0"/>
                  </a:moveTo>
                  <a:lnTo>
                    <a:pt x="16197529" y="0"/>
                  </a:lnTo>
                  <a:lnTo>
                    <a:pt x="16197529" y="951725"/>
                  </a:lnTo>
                  <a:lnTo>
                    <a:pt x="0" y="951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618" b="-28161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6197529" cy="951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4"/>
                </a:lnSpc>
              </a:pPr>
              <a:r>
                <a:rPr lang="en-US" sz="4503" b="1">
                  <a:solidFill>
                    <a:srgbClr val="0E2A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6. RESEARCH AND REFERENCES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2623139" y="2154030"/>
            <a:ext cx="12927908" cy="9477"/>
          </a:xfrm>
          <a:prstGeom prst="line">
            <a:avLst/>
          </a:prstGeom>
          <a:ln w="9525" cap="rnd">
            <a:solidFill>
              <a:srgbClr val="D7E2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9567529" y="2589051"/>
            <a:ext cx="8002676" cy="274539"/>
            <a:chOff x="0" y="0"/>
            <a:chExt cx="10670235" cy="3660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70286" cy="366014"/>
            </a:xfrm>
            <a:custGeom>
              <a:avLst/>
              <a:gdLst/>
              <a:ahLst/>
              <a:cxnLst/>
              <a:rect l="l" t="t" r="r" b="b"/>
              <a:pathLst>
                <a:path w="10670286" h="366014">
                  <a:moveTo>
                    <a:pt x="0" y="0"/>
                  </a:moveTo>
                  <a:lnTo>
                    <a:pt x="10670286" y="0"/>
                  </a:lnTo>
                  <a:lnTo>
                    <a:pt x="10670286" y="366014"/>
                  </a:lnTo>
                  <a:lnTo>
                    <a:pt x="0" y="3660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7640" b="-51764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67529" y="2589051"/>
            <a:ext cx="8002676" cy="274539"/>
            <a:chOff x="0" y="0"/>
            <a:chExt cx="10670235" cy="3660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70235" cy="366052"/>
            </a:xfrm>
            <a:custGeom>
              <a:avLst/>
              <a:gdLst/>
              <a:ahLst/>
              <a:cxnLst/>
              <a:rect l="l" t="t" r="r" b="b"/>
              <a:pathLst>
                <a:path w="10670235" h="366052">
                  <a:moveTo>
                    <a:pt x="0" y="0"/>
                  </a:moveTo>
                  <a:lnTo>
                    <a:pt x="10670235" y="0"/>
                  </a:lnTo>
                  <a:lnTo>
                    <a:pt x="10670235" y="366052"/>
                  </a:lnTo>
                  <a:lnTo>
                    <a:pt x="0" y="366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7979" b="-51797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670235" cy="366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59"/>
                </a:lnSpc>
              </a:pPr>
              <a:r>
                <a:rPr lang="en-US" sz="196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B. TECHNICAL REFERENCES (TOOLS &amp; TECHNOLOGIES)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367665" y="9396270"/>
            <a:ext cx="17534963" cy="555031"/>
          </a:xfrm>
          <a:custGeom>
            <a:avLst/>
            <a:gdLst/>
            <a:ahLst/>
            <a:cxnLst/>
            <a:rect l="l" t="t" r="r" b="b"/>
            <a:pathLst>
              <a:path w="17534963" h="555031">
                <a:moveTo>
                  <a:pt x="0" y="0"/>
                </a:moveTo>
                <a:lnTo>
                  <a:pt x="17534963" y="0"/>
                </a:lnTo>
                <a:lnTo>
                  <a:pt x="17534963" y="555031"/>
                </a:lnTo>
                <a:lnTo>
                  <a:pt x="0" y="55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617706" y="9563100"/>
            <a:ext cx="1441304" cy="247079"/>
            <a:chOff x="0" y="0"/>
            <a:chExt cx="1921739" cy="3294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1764" cy="329438"/>
            </a:xfrm>
            <a:custGeom>
              <a:avLst/>
              <a:gdLst/>
              <a:ahLst/>
              <a:cxnLst/>
              <a:rect l="l" t="t" r="r" b="b"/>
              <a:pathLst>
                <a:path w="1921764" h="329438">
                  <a:moveTo>
                    <a:pt x="0" y="0"/>
                  </a:moveTo>
                  <a:lnTo>
                    <a:pt x="1921764" y="0"/>
                  </a:lnTo>
                  <a:lnTo>
                    <a:pt x="1921764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585" r="1" b="-6358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00186" y="9509046"/>
            <a:ext cx="14962127" cy="274539"/>
            <a:chOff x="0" y="0"/>
            <a:chExt cx="19949503" cy="3660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949540" cy="366014"/>
            </a:xfrm>
            <a:custGeom>
              <a:avLst/>
              <a:gdLst/>
              <a:ahLst/>
              <a:cxnLst/>
              <a:rect l="l" t="t" r="r" b="b"/>
              <a:pathLst>
                <a:path w="19949540" h="366014">
                  <a:moveTo>
                    <a:pt x="0" y="0"/>
                  </a:moveTo>
                  <a:lnTo>
                    <a:pt x="19949540" y="0"/>
                  </a:lnTo>
                  <a:lnTo>
                    <a:pt x="19949540" y="366014"/>
                  </a:lnTo>
                  <a:lnTo>
                    <a:pt x="0" y="3660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1283" b="-101129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00186" y="9509046"/>
            <a:ext cx="14962127" cy="274539"/>
            <a:chOff x="0" y="0"/>
            <a:chExt cx="19949503" cy="3660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49503" cy="366052"/>
            </a:xfrm>
            <a:custGeom>
              <a:avLst/>
              <a:gdLst/>
              <a:ahLst/>
              <a:cxnLst/>
              <a:rect l="l" t="t" r="r" b="b"/>
              <a:pathLst>
                <a:path w="19949503" h="366052">
                  <a:moveTo>
                    <a:pt x="0" y="0"/>
                  </a:moveTo>
                  <a:lnTo>
                    <a:pt x="19949503" y="0"/>
                  </a:lnTo>
                  <a:lnTo>
                    <a:pt x="19949503" y="366052"/>
                  </a:lnTo>
                  <a:lnTo>
                    <a:pt x="0" y="366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1916" b="-101191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9949503" cy="4136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1"/>
                </a:lnSpc>
              </a:pPr>
              <a:r>
                <a:rPr lang="en-US" sz="18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 have used Evidence-based methodology • Government sources • Open technical documentation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1990" y="9972465"/>
            <a:ext cx="14550323" cy="192176"/>
            <a:chOff x="0" y="0"/>
            <a:chExt cx="19400431" cy="2562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400393" cy="256286"/>
            </a:xfrm>
            <a:custGeom>
              <a:avLst/>
              <a:gdLst/>
              <a:ahLst/>
              <a:cxnLst/>
              <a:rect l="l" t="t" r="r" b="b"/>
              <a:pathLst>
                <a:path w="19400393" h="256286">
                  <a:moveTo>
                    <a:pt x="0" y="0"/>
                  </a:moveTo>
                  <a:lnTo>
                    <a:pt x="19400393" y="0"/>
                  </a:lnTo>
                  <a:lnTo>
                    <a:pt x="19400393" y="256286"/>
                  </a:lnTo>
                  <a:lnTo>
                    <a:pt x="0" y="2562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23969" b="-142394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01990" y="9965322"/>
            <a:ext cx="14550323" cy="199320"/>
            <a:chOff x="0" y="0"/>
            <a:chExt cx="19400431" cy="2657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400431" cy="265760"/>
            </a:xfrm>
            <a:custGeom>
              <a:avLst/>
              <a:gdLst/>
              <a:ahLst/>
              <a:cxnLst/>
              <a:rect l="l" t="t" r="r" b="b"/>
              <a:pathLst>
                <a:path w="19400431" h="265760">
                  <a:moveTo>
                    <a:pt x="0" y="0"/>
                  </a:moveTo>
                  <a:lnTo>
                    <a:pt x="19400431" y="0"/>
                  </a:lnTo>
                  <a:lnTo>
                    <a:pt x="19400431" y="265760"/>
                  </a:lnTo>
                  <a:lnTo>
                    <a:pt x="0" y="2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2405" b="-137240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940043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SMART INDIA HACKATHON 2026 • AIRINDEX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227039" y="9938147"/>
            <a:ext cx="576520" cy="247079"/>
            <a:chOff x="0" y="0"/>
            <a:chExt cx="768693" cy="3294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68731" cy="329438"/>
            </a:xfrm>
            <a:custGeom>
              <a:avLst/>
              <a:gdLst/>
              <a:ahLst/>
              <a:cxnLst/>
              <a:rect l="l" t="t" r="r" b="b"/>
              <a:pathLst>
                <a:path w="768731" h="329438">
                  <a:moveTo>
                    <a:pt x="0" y="0"/>
                  </a:moveTo>
                  <a:lnTo>
                    <a:pt x="768731" y="0"/>
                  </a:lnTo>
                  <a:lnTo>
                    <a:pt x="768731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025" r="-50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227039" y="9931003"/>
            <a:ext cx="576520" cy="254222"/>
            <a:chOff x="0" y="0"/>
            <a:chExt cx="768693" cy="33896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68693" cy="338964"/>
            </a:xfrm>
            <a:custGeom>
              <a:avLst/>
              <a:gdLst/>
              <a:ahLst/>
              <a:cxnLst/>
              <a:rect l="l" t="t" r="r" b="b"/>
              <a:pathLst>
                <a:path w="768693" h="338964">
                  <a:moveTo>
                    <a:pt x="0" y="0"/>
                  </a:moveTo>
                  <a:lnTo>
                    <a:pt x="768693" y="0"/>
                  </a:lnTo>
                  <a:lnTo>
                    <a:pt x="768693" y="338964"/>
                  </a:lnTo>
                  <a:lnTo>
                    <a:pt x="0" y="338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76" r="-657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68693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7436" y="219627"/>
            <a:ext cx="1915887" cy="1249101"/>
            <a:chOff x="0" y="0"/>
            <a:chExt cx="2554516" cy="1665468"/>
          </a:xfrm>
        </p:grpSpPr>
        <p:sp>
          <p:nvSpPr>
            <p:cNvPr id="32" name="Freeform 3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kasukaabe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67529" y="7064696"/>
            <a:ext cx="8271367" cy="1387004"/>
            <a:chOff x="0" y="0"/>
            <a:chExt cx="11028489" cy="1849339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1028489" cy="1849339"/>
              <a:chOff x="0" y="0"/>
              <a:chExt cx="5091623" cy="85380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0060" y="45156"/>
                <a:ext cx="5051564" cy="807940"/>
              </a:xfrm>
              <a:custGeom>
                <a:avLst/>
                <a:gdLst/>
                <a:ahLst/>
                <a:cxnLst/>
                <a:rect l="l" t="t" r="r" b="b"/>
                <a:pathLst>
                  <a:path w="5051564" h="807940">
                    <a:moveTo>
                      <a:pt x="580" y="778165"/>
                    </a:moveTo>
                    <a:cubicBezTo>
                      <a:pt x="-1960" y="787055"/>
                      <a:pt x="3120" y="793405"/>
                      <a:pt x="30230" y="794675"/>
                    </a:cubicBezTo>
                    <a:cubicBezTo>
                      <a:pt x="61637" y="795945"/>
                      <a:pt x="89118" y="795945"/>
                      <a:pt x="120524" y="795945"/>
                    </a:cubicBezTo>
                    <a:cubicBezTo>
                      <a:pt x="246151" y="797215"/>
                      <a:pt x="371778" y="797215"/>
                      <a:pt x="501330" y="798485"/>
                    </a:cubicBezTo>
                    <a:cubicBezTo>
                      <a:pt x="571995" y="799755"/>
                      <a:pt x="642660" y="801025"/>
                      <a:pt x="709400" y="802295"/>
                    </a:cubicBezTo>
                    <a:cubicBezTo>
                      <a:pt x="827175" y="803565"/>
                      <a:pt x="941024" y="803565"/>
                      <a:pt x="1058799" y="804835"/>
                    </a:cubicBezTo>
                    <a:cubicBezTo>
                      <a:pt x="1105909" y="804835"/>
                      <a:pt x="1149093" y="804835"/>
                      <a:pt x="1196203" y="803565"/>
                    </a:cubicBezTo>
                    <a:cubicBezTo>
                      <a:pt x="1215832" y="803565"/>
                      <a:pt x="1239387" y="802295"/>
                      <a:pt x="1259016" y="802295"/>
                    </a:cubicBezTo>
                    <a:cubicBezTo>
                      <a:pt x="1337533" y="803565"/>
                      <a:pt x="2907867" y="794675"/>
                      <a:pt x="2986384" y="795945"/>
                    </a:cubicBezTo>
                    <a:cubicBezTo>
                      <a:pt x="3096307" y="797215"/>
                      <a:pt x="3398596" y="797215"/>
                      <a:pt x="3508519" y="797215"/>
                    </a:cubicBezTo>
                    <a:cubicBezTo>
                      <a:pt x="3551704" y="797215"/>
                      <a:pt x="3590962" y="795945"/>
                      <a:pt x="3634146" y="795945"/>
                    </a:cubicBezTo>
                    <a:lnTo>
                      <a:pt x="3846141" y="799755"/>
                    </a:lnTo>
                    <a:cubicBezTo>
                      <a:pt x="3999249" y="802295"/>
                      <a:pt x="4148430" y="799755"/>
                      <a:pt x="4301538" y="803565"/>
                    </a:cubicBezTo>
                    <a:cubicBezTo>
                      <a:pt x="4556717" y="808645"/>
                      <a:pt x="4815822" y="802295"/>
                      <a:pt x="4988063" y="807375"/>
                    </a:cubicBezTo>
                    <a:cubicBezTo>
                      <a:pt x="5008383" y="808645"/>
                      <a:pt x="5028703" y="807375"/>
                      <a:pt x="5051563" y="807375"/>
                    </a:cubicBezTo>
                    <a:lnTo>
                      <a:pt x="5051563" y="747685"/>
                    </a:lnTo>
                    <a:cubicBezTo>
                      <a:pt x="5050293" y="703023"/>
                      <a:pt x="5049024" y="675878"/>
                      <a:pt x="5049024" y="647036"/>
                    </a:cubicBezTo>
                    <a:cubicBezTo>
                      <a:pt x="5049024" y="613669"/>
                      <a:pt x="5052833" y="579737"/>
                      <a:pt x="5046483" y="546371"/>
                    </a:cubicBezTo>
                    <a:cubicBezTo>
                      <a:pt x="5038863" y="524315"/>
                      <a:pt x="5027433" y="89420"/>
                      <a:pt x="5027433" y="67364"/>
                    </a:cubicBezTo>
                    <a:cubicBezTo>
                      <a:pt x="5024893" y="52095"/>
                      <a:pt x="5023624" y="36260"/>
                      <a:pt x="5021083" y="20990"/>
                    </a:cubicBezTo>
                    <a:cubicBezTo>
                      <a:pt x="5021083" y="16466"/>
                      <a:pt x="5019813" y="11942"/>
                      <a:pt x="5018543" y="5644"/>
                    </a:cubicBezTo>
                    <a:cubicBezTo>
                      <a:pt x="5008383" y="3104"/>
                      <a:pt x="4999493" y="1834"/>
                      <a:pt x="4989333" y="564"/>
                    </a:cubicBezTo>
                    <a:cubicBezTo>
                      <a:pt x="4981713" y="-706"/>
                      <a:pt x="4974093" y="564"/>
                      <a:pt x="4967743" y="564"/>
                    </a:cubicBezTo>
                    <a:lnTo>
                      <a:pt x="10601" y="5644"/>
                    </a:lnTo>
                    <a:lnTo>
                      <a:pt x="580" y="778165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11430" y="16510"/>
                <a:ext cx="5030663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5030663" h="799191">
                    <a:moveTo>
                      <a:pt x="5030663" y="799191"/>
                    </a:moveTo>
                    <a:lnTo>
                      <a:pt x="0" y="791571"/>
                    </a:lnTo>
                    <a:lnTo>
                      <a:pt x="0" y="286029"/>
                    </a:lnTo>
                    <a:lnTo>
                      <a:pt x="7620" y="20320"/>
                    </a:lnTo>
                    <a:lnTo>
                      <a:pt x="2524284" y="0"/>
                    </a:lnTo>
                    <a:lnTo>
                      <a:pt x="5009074" y="889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-215" y="0"/>
                <a:ext cx="5055008" cy="825156"/>
              </a:xfrm>
              <a:custGeom>
                <a:avLst/>
                <a:gdLst/>
                <a:ahLst/>
                <a:cxnLst/>
                <a:rect l="l" t="t" r="r" b="b"/>
                <a:pathLst>
                  <a:path w="5055008" h="825156">
                    <a:moveTo>
                      <a:pt x="5021988" y="21590"/>
                    </a:moveTo>
                    <a:cubicBezTo>
                      <a:pt x="5023258" y="34290"/>
                      <a:pt x="5023258" y="44450"/>
                      <a:pt x="5024528" y="53139"/>
                    </a:cubicBezTo>
                    <a:cubicBezTo>
                      <a:pt x="5027068" y="68408"/>
                      <a:pt x="5028338" y="84243"/>
                      <a:pt x="5030878" y="99513"/>
                    </a:cubicBezTo>
                    <a:cubicBezTo>
                      <a:pt x="5030878" y="121568"/>
                      <a:pt x="5043578" y="556464"/>
                      <a:pt x="5049928" y="578519"/>
                    </a:cubicBezTo>
                    <a:cubicBezTo>
                      <a:pt x="5056278" y="611886"/>
                      <a:pt x="5052468" y="645818"/>
                      <a:pt x="5052468" y="679184"/>
                    </a:cubicBezTo>
                    <a:cubicBezTo>
                      <a:pt x="5052468" y="708592"/>
                      <a:pt x="5053738" y="735738"/>
                      <a:pt x="5055008" y="764901"/>
                    </a:cubicBezTo>
                    <a:lnTo>
                      <a:pt x="5055008" y="824591"/>
                    </a:lnTo>
                    <a:cubicBezTo>
                      <a:pt x="5032149" y="824591"/>
                      <a:pt x="5011828" y="825861"/>
                      <a:pt x="4991508" y="824591"/>
                    </a:cubicBezTo>
                    <a:cubicBezTo>
                      <a:pt x="4742248" y="819511"/>
                      <a:pt x="4483143" y="825861"/>
                      <a:pt x="4227964" y="820781"/>
                    </a:cubicBezTo>
                    <a:cubicBezTo>
                      <a:pt x="4074856" y="816971"/>
                      <a:pt x="3925675" y="819511"/>
                      <a:pt x="3772567" y="816971"/>
                    </a:cubicBezTo>
                    <a:lnTo>
                      <a:pt x="3560572" y="813161"/>
                    </a:lnTo>
                    <a:cubicBezTo>
                      <a:pt x="3517388" y="813161"/>
                      <a:pt x="3478129" y="814431"/>
                      <a:pt x="3434945" y="814431"/>
                    </a:cubicBezTo>
                    <a:cubicBezTo>
                      <a:pt x="3325022" y="813161"/>
                      <a:pt x="3022732" y="814431"/>
                      <a:pt x="2912809" y="813161"/>
                    </a:cubicBezTo>
                    <a:cubicBezTo>
                      <a:pt x="2834293" y="811891"/>
                      <a:pt x="1263959" y="820781"/>
                      <a:pt x="1185442" y="819511"/>
                    </a:cubicBezTo>
                    <a:cubicBezTo>
                      <a:pt x="1165813" y="819511"/>
                      <a:pt x="1142258" y="820781"/>
                      <a:pt x="1122629" y="820781"/>
                    </a:cubicBezTo>
                    <a:cubicBezTo>
                      <a:pt x="1075519" y="820781"/>
                      <a:pt x="1032335" y="822051"/>
                      <a:pt x="985225" y="822051"/>
                    </a:cubicBezTo>
                    <a:cubicBezTo>
                      <a:pt x="867450" y="822051"/>
                      <a:pt x="753600" y="820781"/>
                      <a:pt x="635825" y="819511"/>
                    </a:cubicBezTo>
                    <a:cubicBezTo>
                      <a:pt x="565160" y="818241"/>
                      <a:pt x="494495" y="816971"/>
                      <a:pt x="427756" y="815701"/>
                    </a:cubicBezTo>
                    <a:cubicBezTo>
                      <a:pt x="302129" y="814431"/>
                      <a:pt x="176503" y="813161"/>
                      <a:pt x="46950" y="813161"/>
                    </a:cubicBezTo>
                    <a:cubicBezTo>
                      <a:pt x="34505" y="813161"/>
                      <a:pt x="25615" y="813161"/>
                      <a:pt x="15455" y="811891"/>
                    </a:cubicBezTo>
                    <a:cubicBezTo>
                      <a:pt x="6565" y="810621"/>
                      <a:pt x="1485" y="804271"/>
                      <a:pt x="4025" y="795381"/>
                    </a:cubicBezTo>
                    <a:cubicBezTo>
                      <a:pt x="12915" y="764014"/>
                      <a:pt x="9105" y="749876"/>
                      <a:pt x="7835" y="735172"/>
                    </a:cubicBezTo>
                    <a:cubicBezTo>
                      <a:pt x="6565" y="705199"/>
                      <a:pt x="2755" y="675791"/>
                      <a:pt x="4025" y="645818"/>
                    </a:cubicBezTo>
                    <a:cubicBezTo>
                      <a:pt x="1485" y="608493"/>
                      <a:pt x="-3595" y="146452"/>
                      <a:pt x="4025" y="108561"/>
                    </a:cubicBezTo>
                    <a:cubicBezTo>
                      <a:pt x="5295" y="101209"/>
                      <a:pt x="4025" y="93292"/>
                      <a:pt x="5295" y="85940"/>
                    </a:cubicBezTo>
                    <a:cubicBezTo>
                      <a:pt x="6565" y="74064"/>
                      <a:pt x="9105" y="61056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78357" y="30480"/>
                      <a:pt x="141170" y="29210"/>
                    </a:cubicBezTo>
                    <a:cubicBezTo>
                      <a:pt x="247168" y="25400"/>
                      <a:pt x="353165" y="22860"/>
                      <a:pt x="463089" y="20320"/>
                    </a:cubicBezTo>
                    <a:cubicBezTo>
                      <a:pt x="537679" y="17780"/>
                      <a:pt x="612270" y="16510"/>
                      <a:pt x="682935" y="13970"/>
                    </a:cubicBezTo>
                    <a:cubicBezTo>
                      <a:pt x="753600" y="11430"/>
                      <a:pt x="828191" y="8890"/>
                      <a:pt x="898856" y="8890"/>
                    </a:cubicBezTo>
                    <a:cubicBezTo>
                      <a:pt x="977373" y="7620"/>
                      <a:pt x="1055890" y="10160"/>
                      <a:pt x="1134406" y="8890"/>
                    </a:cubicBezTo>
                    <a:cubicBezTo>
                      <a:pt x="1232552" y="8890"/>
                      <a:pt x="3010955" y="6350"/>
                      <a:pt x="3109101" y="5080"/>
                    </a:cubicBezTo>
                    <a:cubicBezTo>
                      <a:pt x="3203321" y="3810"/>
                      <a:pt x="3297541" y="2540"/>
                      <a:pt x="3395687" y="2540"/>
                    </a:cubicBezTo>
                    <a:cubicBezTo>
                      <a:pt x="3556646" y="1270"/>
                      <a:pt x="3713679" y="0"/>
                      <a:pt x="3874639" y="0"/>
                    </a:cubicBezTo>
                    <a:cubicBezTo>
                      <a:pt x="3941378" y="0"/>
                      <a:pt x="4012043" y="2540"/>
                      <a:pt x="4078782" y="2540"/>
                    </a:cubicBezTo>
                    <a:cubicBezTo>
                      <a:pt x="4263296" y="3810"/>
                      <a:pt x="4451736" y="5080"/>
                      <a:pt x="4636251" y="7620"/>
                    </a:cubicBezTo>
                    <a:cubicBezTo>
                      <a:pt x="4734397" y="8890"/>
                      <a:pt x="4832542" y="12700"/>
                      <a:pt x="4930688" y="16510"/>
                    </a:cubicBezTo>
                    <a:lnTo>
                      <a:pt x="4991508" y="16510"/>
                    </a:lnTo>
                    <a:cubicBezTo>
                      <a:pt x="5002938" y="17780"/>
                      <a:pt x="5011828" y="20320"/>
                      <a:pt x="5021988" y="21590"/>
                    </a:cubicBezTo>
                    <a:close/>
                    <a:moveTo>
                      <a:pt x="5032149" y="808081"/>
                    </a:moveTo>
                    <a:cubicBezTo>
                      <a:pt x="5033418" y="791571"/>
                      <a:pt x="5034688" y="778871"/>
                      <a:pt x="5034688" y="766171"/>
                    </a:cubicBezTo>
                    <a:cubicBezTo>
                      <a:pt x="5033418" y="732910"/>
                      <a:pt x="5032149" y="702937"/>
                      <a:pt x="5032149" y="670701"/>
                    </a:cubicBezTo>
                    <a:cubicBezTo>
                      <a:pt x="5032149" y="655997"/>
                      <a:pt x="5034688" y="641294"/>
                      <a:pt x="5033418" y="626590"/>
                    </a:cubicBezTo>
                    <a:cubicBezTo>
                      <a:pt x="5033418" y="613017"/>
                      <a:pt x="5032149" y="598879"/>
                      <a:pt x="5030878" y="585306"/>
                    </a:cubicBezTo>
                    <a:cubicBezTo>
                      <a:pt x="5025799" y="564381"/>
                      <a:pt x="5014368" y="131183"/>
                      <a:pt x="5014368" y="110258"/>
                    </a:cubicBezTo>
                    <a:cubicBezTo>
                      <a:pt x="5011828" y="92726"/>
                      <a:pt x="5009288" y="74629"/>
                      <a:pt x="5006749" y="57098"/>
                    </a:cubicBezTo>
                    <a:cubicBezTo>
                      <a:pt x="5005478" y="44450"/>
                      <a:pt x="5004208" y="43180"/>
                      <a:pt x="4985650" y="41910"/>
                    </a:cubicBezTo>
                    <a:cubicBezTo>
                      <a:pt x="4973872" y="41910"/>
                      <a:pt x="4966021" y="41910"/>
                      <a:pt x="4954243" y="40640"/>
                    </a:cubicBezTo>
                    <a:cubicBezTo>
                      <a:pt x="4856097" y="36830"/>
                      <a:pt x="4754026" y="31750"/>
                      <a:pt x="4655880" y="30480"/>
                    </a:cubicBezTo>
                    <a:cubicBezTo>
                      <a:pt x="4416404" y="26670"/>
                      <a:pt x="4173002" y="25400"/>
                      <a:pt x="3933526" y="22860"/>
                    </a:cubicBezTo>
                    <a:lnTo>
                      <a:pt x="3650866" y="22860"/>
                    </a:lnTo>
                    <a:cubicBezTo>
                      <a:pt x="3525239" y="22860"/>
                      <a:pt x="3399613" y="22860"/>
                      <a:pt x="3277912" y="24130"/>
                    </a:cubicBezTo>
                    <a:cubicBezTo>
                      <a:pt x="3171914" y="25400"/>
                      <a:pt x="1385660" y="29210"/>
                      <a:pt x="1279662" y="29210"/>
                    </a:cubicBezTo>
                    <a:cubicBezTo>
                      <a:pt x="1106925" y="29210"/>
                      <a:pt x="934189" y="26670"/>
                      <a:pt x="761452" y="33020"/>
                    </a:cubicBezTo>
                    <a:cubicBezTo>
                      <a:pt x="671158" y="36830"/>
                      <a:pt x="584789" y="36830"/>
                      <a:pt x="498421" y="38100"/>
                    </a:cubicBezTo>
                    <a:cubicBezTo>
                      <a:pt x="349239" y="41910"/>
                      <a:pt x="200058" y="45720"/>
                      <a:pt x="50876" y="50800"/>
                    </a:cubicBezTo>
                    <a:cubicBezTo>
                      <a:pt x="33235" y="50800"/>
                      <a:pt x="30695" y="52573"/>
                      <a:pt x="29425" y="59360"/>
                    </a:cubicBezTo>
                    <a:cubicBezTo>
                      <a:pt x="28155" y="69539"/>
                      <a:pt x="28155" y="79719"/>
                      <a:pt x="26885" y="89899"/>
                    </a:cubicBezTo>
                    <a:cubicBezTo>
                      <a:pt x="25615" y="106865"/>
                      <a:pt x="23075" y="123265"/>
                      <a:pt x="21805" y="140231"/>
                    </a:cubicBezTo>
                    <a:cubicBezTo>
                      <a:pt x="16725" y="158328"/>
                      <a:pt x="23075" y="600575"/>
                      <a:pt x="25615" y="618672"/>
                    </a:cubicBezTo>
                    <a:cubicBezTo>
                      <a:pt x="25615" y="637900"/>
                      <a:pt x="25615" y="657694"/>
                      <a:pt x="26885" y="676922"/>
                    </a:cubicBezTo>
                    <a:cubicBezTo>
                      <a:pt x="26885" y="691060"/>
                      <a:pt x="29425" y="705199"/>
                      <a:pt x="29425" y="719337"/>
                    </a:cubicBezTo>
                    <a:cubicBezTo>
                      <a:pt x="29425" y="734607"/>
                      <a:pt x="29425" y="749876"/>
                      <a:pt x="28155" y="766171"/>
                    </a:cubicBezTo>
                    <a:lnTo>
                      <a:pt x="28155" y="776331"/>
                    </a:lnTo>
                    <a:cubicBezTo>
                      <a:pt x="28155" y="786491"/>
                      <a:pt x="31965" y="790301"/>
                      <a:pt x="40855" y="790301"/>
                    </a:cubicBezTo>
                    <a:cubicBezTo>
                      <a:pt x="86209" y="790301"/>
                      <a:pt x="141170" y="791571"/>
                      <a:pt x="192206" y="791571"/>
                    </a:cubicBezTo>
                    <a:cubicBezTo>
                      <a:pt x="266797" y="791571"/>
                      <a:pt x="345314" y="789031"/>
                      <a:pt x="419904" y="791571"/>
                    </a:cubicBezTo>
                    <a:cubicBezTo>
                      <a:pt x="541605" y="795381"/>
                      <a:pt x="663306" y="797921"/>
                      <a:pt x="785007" y="796651"/>
                    </a:cubicBezTo>
                    <a:cubicBezTo>
                      <a:pt x="863524" y="795381"/>
                      <a:pt x="938115" y="797921"/>
                      <a:pt x="1016631" y="797921"/>
                    </a:cubicBezTo>
                    <a:cubicBezTo>
                      <a:pt x="1130481" y="797921"/>
                      <a:pt x="1244330" y="796651"/>
                      <a:pt x="1358179" y="797921"/>
                    </a:cubicBezTo>
                    <a:cubicBezTo>
                      <a:pt x="1526990" y="799191"/>
                      <a:pt x="3379984" y="789031"/>
                      <a:pt x="3552720" y="791571"/>
                    </a:cubicBezTo>
                    <a:cubicBezTo>
                      <a:pt x="3627311" y="792841"/>
                      <a:pt x="3701902" y="794111"/>
                      <a:pt x="3772567" y="794111"/>
                    </a:cubicBezTo>
                    <a:cubicBezTo>
                      <a:pt x="3902120" y="796651"/>
                      <a:pt x="4027746" y="792841"/>
                      <a:pt x="4157299" y="796651"/>
                    </a:cubicBezTo>
                    <a:cubicBezTo>
                      <a:pt x="4263296" y="799191"/>
                      <a:pt x="4369294" y="799191"/>
                      <a:pt x="4475291" y="801731"/>
                    </a:cubicBezTo>
                    <a:cubicBezTo>
                      <a:pt x="4632325" y="805541"/>
                      <a:pt x="4789358" y="808081"/>
                      <a:pt x="4946391" y="809351"/>
                    </a:cubicBezTo>
                    <a:cubicBezTo>
                      <a:pt x="4994049" y="809351"/>
                      <a:pt x="5011828" y="808081"/>
                      <a:pt x="5032149" y="808081"/>
                    </a:cubicBezTo>
                    <a:close/>
                  </a:path>
                </a:pathLst>
              </a:custGeom>
              <a:solidFill>
                <a:srgbClr val="2A2B39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185584" y="436709"/>
              <a:ext cx="1863104" cy="798858"/>
            </a:xfrm>
            <a:custGeom>
              <a:avLst/>
              <a:gdLst/>
              <a:ahLst/>
              <a:cxnLst/>
              <a:rect l="l" t="t" r="r" b="b"/>
              <a:pathLst>
                <a:path w="1863104" h="798858">
                  <a:moveTo>
                    <a:pt x="0" y="0"/>
                  </a:moveTo>
                  <a:lnTo>
                    <a:pt x="1863103" y="0"/>
                  </a:lnTo>
                  <a:lnTo>
                    <a:pt x="1863103" y="798859"/>
                  </a:lnTo>
                  <a:lnTo>
                    <a:pt x="0" y="7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08" r="-290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607145" y="436709"/>
              <a:ext cx="925039" cy="978846"/>
            </a:xfrm>
            <a:custGeom>
              <a:avLst/>
              <a:gdLst/>
              <a:ahLst/>
              <a:cxnLst/>
              <a:rect l="l" t="t" r="r" b="b"/>
              <a:pathLst>
                <a:path w="925039" h="978846">
                  <a:moveTo>
                    <a:pt x="0" y="0"/>
                  </a:moveTo>
                  <a:lnTo>
                    <a:pt x="925039" y="0"/>
                  </a:lnTo>
                  <a:lnTo>
                    <a:pt x="925039" y="978846"/>
                  </a:lnTo>
                  <a:lnTo>
                    <a:pt x="0" y="978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08" r="-290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942143" y="472410"/>
              <a:ext cx="687468" cy="727456"/>
            </a:xfrm>
            <a:custGeom>
              <a:avLst/>
              <a:gdLst/>
              <a:ahLst/>
              <a:cxnLst/>
              <a:rect l="l" t="t" r="r" b="b"/>
              <a:pathLst>
                <a:path w="687468" h="727456">
                  <a:moveTo>
                    <a:pt x="0" y="0"/>
                  </a:moveTo>
                  <a:lnTo>
                    <a:pt x="687467" y="0"/>
                  </a:lnTo>
                  <a:lnTo>
                    <a:pt x="687467" y="727456"/>
                  </a:lnTo>
                  <a:lnTo>
                    <a:pt x="0" y="727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08" r="-290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9764392" y="360251"/>
              <a:ext cx="815383" cy="862812"/>
            </a:xfrm>
            <a:custGeom>
              <a:avLst/>
              <a:gdLst/>
              <a:ahLst/>
              <a:cxnLst/>
              <a:rect l="l" t="t" r="r" b="b"/>
              <a:pathLst>
                <a:path w="815383" h="862812">
                  <a:moveTo>
                    <a:pt x="0" y="0"/>
                  </a:moveTo>
                  <a:lnTo>
                    <a:pt x="815383" y="0"/>
                  </a:lnTo>
                  <a:lnTo>
                    <a:pt x="815383" y="862812"/>
                  </a:lnTo>
                  <a:lnTo>
                    <a:pt x="0" y="862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908" r="-290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6398565" y="329232"/>
              <a:ext cx="874011" cy="924850"/>
            </a:xfrm>
            <a:custGeom>
              <a:avLst/>
              <a:gdLst/>
              <a:ahLst/>
              <a:cxnLst/>
              <a:rect l="l" t="t" r="r" b="b"/>
              <a:pathLst>
                <a:path w="874011" h="924850">
                  <a:moveTo>
                    <a:pt x="0" y="0"/>
                  </a:moveTo>
                  <a:lnTo>
                    <a:pt x="874011" y="0"/>
                  </a:lnTo>
                  <a:lnTo>
                    <a:pt x="874011" y="924850"/>
                  </a:lnTo>
                  <a:lnTo>
                    <a:pt x="0" y="924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908" r="-290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7877107" y="436709"/>
              <a:ext cx="680630" cy="709895"/>
            </a:xfrm>
            <a:custGeom>
              <a:avLst/>
              <a:gdLst/>
              <a:ahLst/>
              <a:cxnLst/>
              <a:rect l="l" t="t" r="r" b="b"/>
              <a:pathLst>
                <a:path w="680630" h="709895">
                  <a:moveTo>
                    <a:pt x="0" y="0"/>
                  </a:moveTo>
                  <a:lnTo>
                    <a:pt x="680630" y="0"/>
                  </a:lnTo>
                  <a:lnTo>
                    <a:pt x="680630" y="709895"/>
                  </a:lnTo>
                  <a:lnTo>
                    <a:pt x="0" y="709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908" r="-290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5" name="Freeform 45"/>
          <p:cNvSpPr/>
          <p:nvPr/>
        </p:nvSpPr>
        <p:spPr>
          <a:xfrm>
            <a:off x="9747113" y="2429916"/>
            <a:ext cx="7823092" cy="4302701"/>
          </a:xfrm>
          <a:custGeom>
            <a:avLst/>
            <a:gdLst/>
            <a:ahLst/>
            <a:cxnLst/>
            <a:rect l="l" t="t" r="r" b="b"/>
            <a:pathLst>
              <a:path w="7823092" h="4302701">
                <a:moveTo>
                  <a:pt x="0" y="0"/>
                </a:moveTo>
                <a:lnTo>
                  <a:pt x="7823093" y="0"/>
                </a:lnTo>
                <a:lnTo>
                  <a:pt x="7823093" y="4302700"/>
                </a:lnTo>
                <a:lnTo>
                  <a:pt x="0" y="4302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6"/>
          <p:cNvSpPr txBox="1"/>
          <p:nvPr/>
        </p:nvSpPr>
        <p:spPr>
          <a:xfrm>
            <a:off x="11096215" y="2699731"/>
            <a:ext cx="679856" cy="31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rPr>
              <a:t>React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96215" y="3171648"/>
            <a:ext cx="2066544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979"/>
                </a:solidFill>
                <a:latin typeface="Aptos"/>
                <a:ea typeface="Aptos"/>
                <a:cs typeface="Aptos"/>
                <a:sym typeface="Aptos"/>
              </a:rPr>
              <a:t>Interactive dashboard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35839" y="4089029"/>
            <a:ext cx="888178" cy="31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35839" y="4543248"/>
            <a:ext cx="2066544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979"/>
                </a:solidFill>
                <a:latin typeface="Aptos"/>
                <a:ea typeface="Aptos"/>
                <a:cs typeface="Aptos"/>
                <a:sym typeface="Aptos"/>
              </a:rPr>
              <a:t>REST API &amp; validation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135839" y="5479736"/>
            <a:ext cx="864203" cy="31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rPr>
              <a:t>Pandas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135839" y="5931278"/>
            <a:ext cx="2066544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979"/>
                </a:solidFill>
                <a:latin typeface="Aptos"/>
                <a:ea typeface="Aptos"/>
                <a:cs typeface="Aptos"/>
                <a:sym typeface="Aptos"/>
              </a:rPr>
              <a:t>Data cleaning &amp; transformation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367665" y="2046016"/>
            <a:ext cx="13201202" cy="6886490"/>
            <a:chOff x="0" y="0"/>
            <a:chExt cx="17601603" cy="9181987"/>
          </a:xfrm>
        </p:grpSpPr>
        <p:grpSp>
          <p:nvGrpSpPr>
            <p:cNvPr id="53" name="Group 53"/>
            <p:cNvGrpSpPr/>
            <p:nvPr/>
          </p:nvGrpSpPr>
          <p:grpSpPr>
            <a:xfrm>
              <a:off x="0" y="1580743"/>
              <a:ext cx="13869897" cy="466807"/>
              <a:chOff x="0" y="0"/>
              <a:chExt cx="10876239" cy="36605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0876290" cy="366014"/>
              </a:xfrm>
              <a:custGeom>
                <a:avLst/>
                <a:gdLst/>
                <a:ahLst/>
                <a:cxnLst/>
                <a:rect l="l" t="t" r="r" b="b"/>
                <a:pathLst>
                  <a:path w="10876290" h="366014">
                    <a:moveTo>
                      <a:pt x="0" y="0"/>
                    </a:moveTo>
                    <a:lnTo>
                      <a:pt x="10876290" y="0"/>
                    </a:lnTo>
                    <a:lnTo>
                      <a:pt x="10876290" y="366014"/>
                    </a:lnTo>
                    <a:lnTo>
                      <a:pt x="0" y="36601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528605" b="-52861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0" y="1640927"/>
              <a:ext cx="13869897" cy="466807"/>
              <a:chOff x="0" y="0"/>
              <a:chExt cx="10876239" cy="36605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0876239" cy="366052"/>
              </a:xfrm>
              <a:custGeom>
                <a:avLst/>
                <a:gdLst/>
                <a:ahLst/>
                <a:cxnLst/>
                <a:rect l="l" t="t" r="r" b="b"/>
                <a:pathLst>
                  <a:path w="10876239" h="366052">
                    <a:moveTo>
                      <a:pt x="0" y="0"/>
                    </a:moveTo>
                    <a:lnTo>
                      <a:pt x="10876239" y="0"/>
                    </a:lnTo>
                    <a:lnTo>
                      <a:pt x="10876239" y="366052"/>
                    </a:lnTo>
                    <a:lnTo>
                      <a:pt x="0" y="3660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17979" r="1894" b="-517979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0"/>
                <a:ext cx="10876239" cy="3660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239"/>
                  </a:lnSpc>
                </a:pPr>
                <a:r>
                  <a:rPr lang="en-US" sz="1866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A. GOVERNMENT &amp; STATISTICAL SOURCES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236828" y="7682463"/>
              <a:ext cx="9964423" cy="98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 b="1">
                  <a:solidFill>
                    <a:srgbClr val="202B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Ultimate Web Scraping  Tutorial (Code With Harry)</a:t>
              </a:r>
            </a:p>
            <a:p>
              <a:pPr algn="l">
                <a:lnSpc>
                  <a:spcPts val="2907"/>
                </a:lnSpc>
              </a:pPr>
              <a:endParaRPr lang="en-US" sz="2422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3337" y="8200724"/>
              <a:ext cx="17348266" cy="98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endParaRPr/>
            </a:p>
            <a:p>
              <a:pPr algn="l">
                <a:lnSpc>
                  <a:spcPts val="2907"/>
                </a:lnSpc>
              </a:pPr>
              <a:r>
                <a:rPr lang="en-US" sz="2422" u="sng">
                  <a:solidFill>
                    <a:srgbClr val="14315B"/>
                  </a:solidFill>
                  <a:latin typeface="Aptos"/>
                  <a:ea typeface="Aptos"/>
                  <a:cs typeface="Aptos"/>
                  <a:sym typeface="Aptos"/>
                  <a:hlinkClick r:id="rId12" tooltip="https://www.youtube.com/watch?v=1227R6KY8Ts"/>
                </a:rPr>
                <a:t>https://www.youtube.com/watch?v=1227R6KY8Ts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36828" y="-9525"/>
              <a:ext cx="17348266" cy="495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 b="1">
                  <a:solidFill>
                    <a:srgbClr val="202B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MoSPI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6828" y="756456"/>
              <a:ext cx="17348266" cy="98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5B6979"/>
                  </a:solidFill>
                  <a:latin typeface="Aptos"/>
                  <a:ea typeface="Aptos"/>
                  <a:cs typeface="Aptos"/>
                  <a:sym typeface="Aptos"/>
                </a:rPr>
                <a:t>Expert Group Report on Comprehensive Updation of CPI (2026)</a:t>
              </a:r>
            </a:p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14315B"/>
                  </a:solidFill>
                  <a:latin typeface="Aptos"/>
                  <a:ea typeface="Aptos"/>
                  <a:cs typeface="Aptos"/>
                  <a:sym typeface="Aptos"/>
                </a:rPr>
                <a:t>mospi.gov.in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36828" y="2452213"/>
              <a:ext cx="17348266" cy="495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 b="1">
                  <a:solidFill>
                    <a:srgbClr val="202B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MoCA / PIB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36828" y="3224534"/>
              <a:ext cx="17348266" cy="98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5B6979"/>
                  </a:solidFill>
                  <a:latin typeface="Aptos"/>
                  <a:ea typeface="Aptos"/>
                  <a:cs typeface="Aptos"/>
                  <a:sym typeface="Aptos"/>
                </a:rPr>
                <a:t>Tariff Monitoring Unit — Airfare Monitoring (2023)</a:t>
              </a:r>
            </a:p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14315B"/>
                  </a:solidFill>
                  <a:latin typeface="Aptos"/>
                  <a:ea typeface="Aptos"/>
                  <a:cs typeface="Aptos"/>
                  <a:sym typeface="Aptos"/>
                </a:rPr>
                <a:t>pib.gov.in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36828" y="4816874"/>
              <a:ext cx="17348266" cy="495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 b="1">
                  <a:solidFill>
                    <a:srgbClr val="202B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DGCA / Sansad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36828" y="5686272"/>
              <a:ext cx="17348266" cy="9812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5B6979"/>
                  </a:solidFill>
                  <a:latin typeface="Aptos"/>
                  <a:ea typeface="Aptos"/>
                  <a:cs typeface="Aptos"/>
                  <a:sym typeface="Aptos"/>
                </a:rPr>
                <a:t>Tariff Monitoring Unit — 78 selected routes (2026)</a:t>
              </a:r>
            </a:p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14315B"/>
                  </a:solidFill>
                  <a:latin typeface="Aptos"/>
                  <a:ea typeface="Aptos"/>
                  <a:cs typeface="Aptos"/>
                  <a:sym typeface="Aptos"/>
                </a:rPr>
                <a:t>sansad.in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789931" y="-9525"/>
              <a:ext cx="10343014" cy="495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(Ministry of Statistics and Programme Implementation)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638864" y="4816874"/>
              <a:ext cx="7106283" cy="495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(Directorate General of Civil Aviation 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758145" y="2440568"/>
              <a:ext cx="9918475" cy="4953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7"/>
                </a:lnSpc>
              </a:pPr>
              <a:r>
                <a:rPr lang="en-US" sz="2422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(Ministry of Civil Aviation / Press Information Bureau)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762045" y="9449"/>
            <a:ext cx="3313652" cy="1684306"/>
            <a:chOff x="0" y="0"/>
            <a:chExt cx="4418203" cy="2245741"/>
          </a:xfrm>
        </p:grpSpPr>
        <p:sp>
          <p:nvSpPr>
            <p:cNvPr id="70" name="Freeform 70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7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3759477" y="2736536"/>
            <a:ext cx="2103320" cy="31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rPr>
              <a:t>Playwright Python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3759477" y="3171648"/>
            <a:ext cx="2066544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979"/>
                </a:solidFill>
                <a:latin typeface="Aptos"/>
                <a:ea typeface="Aptos"/>
                <a:cs typeface="Aptos"/>
                <a:sym typeface="Aptos"/>
              </a:rPr>
              <a:t>Automated web data collection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3752947" y="4159571"/>
            <a:ext cx="1360684" cy="31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rPr>
              <a:t>PostgreSQL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752947" y="4613790"/>
            <a:ext cx="2066544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979"/>
                </a:solidFill>
                <a:latin typeface="Aptos"/>
                <a:ea typeface="Aptos"/>
                <a:cs typeface="Aptos"/>
                <a:sym typeface="Aptos"/>
              </a:rPr>
              <a:t>Structured data storage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3796253" y="5555936"/>
            <a:ext cx="821817" cy="31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202B38"/>
                </a:solidFill>
                <a:latin typeface="Aptos Bold"/>
                <a:ea typeface="Aptos Bold"/>
                <a:cs typeface="Aptos Bold"/>
                <a:sym typeface="Aptos Bold"/>
              </a:rPr>
              <a:t>Python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796253" y="5991048"/>
            <a:ext cx="2066544" cy="62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979"/>
                </a:solidFill>
                <a:latin typeface="Aptos"/>
                <a:ea typeface="Aptos"/>
                <a:cs typeface="Aptos"/>
                <a:sym typeface="Aptos"/>
              </a:rPr>
              <a:t>Automation &amp; data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823</Words>
  <Application>Microsoft Office PowerPoint</Application>
  <PresentationFormat>Custom</PresentationFormat>
  <Paragraphs>226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Calibri (MS) Bold</vt:lpstr>
      <vt:lpstr>Georgia Bold</vt:lpstr>
      <vt:lpstr>Calibri (MS)</vt:lpstr>
      <vt:lpstr>Aptos Bold</vt:lpstr>
      <vt:lpstr>Calibri</vt:lpstr>
      <vt:lpstr>Times New Roman Bold</vt:lpstr>
      <vt:lpstr>Aptos</vt:lpstr>
      <vt:lpstr>Garamond Bold</vt:lpstr>
      <vt:lpstr>Arial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Kasukaabe_AIRINDEX_SIH_2026_Editable (2).pptx</dc:title>
  <cp:lastModifiedBy>Umang Raj</cp:lastModifiedBy>
  <cp:revision>1</cp:revision>
  <dcterms:created xsi:type="dcterms:W3CDTF">2006-08-16T00:00:00Z</dcterms:created>
  <dcterms:modified xsi:type="dcterms:W3CDTF">2026-09-06T06:28:48Z</dcterms:modified>
  <dc:identifier>DAHTwo6NR4M</dc:identifier>
</cp:coreProperties>
</file>